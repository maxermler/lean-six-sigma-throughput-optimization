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  <p:sldMasterId id="2147483722" r:id="rId2"/>
  </p:sldMasterIdLst>
  <p:notesMasterIdLst>
    <p:notesMasterId r:id="rId35"/>
  </p:notesMasterIdLst>
  <p:handoutMasterIdLst>
    <p:handoutMasterId r:id="rId36"/>
  </p:handoutMasterIdLst>
  <p:sldIdLst>
    <p:sldId id="494" r:id="rId3"/>
    <p:sldId id="461" r:id="rId4"/>
    <p:sldId id="388" r:id="rId5"/>
    <p:sldId id="503" r:id="rId6"/>
    <p:sldId id="458" r:id="rId7"/>
    <p:sldId id="649" r:id="rId8"/>
    <p:sldId id="361" r:id="rId9"/>
    <p:sldId id="650" r:id="rId10"/>
    <p:sldId id="651" r:id="rId11"/>
    <p:sldId id="498" r:id="rId12"/>
    <p:sldId id="648" r:id="rId13"/>
    <p:sldId id="362" r:id="rId14"/>
    <p:sldId id="652" r:id="rId15"/>
    <p:sldId id="469" r:id="rId16"/>
    <p:sldId id="653" r:id="rId17"/>
    <p:sldId id="654" r:id="rId18"/>
    <p:sldId id="655" r:id="rId19"/>
    <p:sldId id="474" r:id="rId20"/>
    <p:sldId id="656" r:id="rId21"/>
    <p:sldId id="661" r:id="rId22"/>
    <p:sldId id="657" r:id="rId23"/>
    <p:sldId id="658" r:id="rId24"/>
    <p:sldId id="466" r:id="rId25"/>
    <p:sldId id="499" r:id="rId26"/>
    <p:sldId id="500" r:id="rId27"/>
    <p:sldId id="501" r:id="rId28"/>
    <p:sldId id="477" r:id="rId29"/>
    <p:sldId id="504" r:id="rId30"/>
    <p:sldId id="659" r:id="rId31"/>
    <p:sldId id="660" r:id="rId32"/>
    <p:sldId id="359" r:id="rId33"/>
    <p:sldId id="278" r:id="rId34"/>
  </p:sldIdLst>
  <p:sldSz cx="12192000" cy="6858000"/>
  <p:notesSz cx="7010400" cy="92964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5D90"/>
    <a:srgbClr val="57B2EC"/>
    <a:srgbClr val="FF5050"/>
    <a:srgbClr val="FFFF66"/>
    <a:srgbClr val="FF9933"/>
    <a:srgbClr val="66FF66"/>
    <a:srgbClr val="3CAEA3"/>
    <a:srgbClr val="F6D55C"/>
    <a:srgbClr val="FF66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33" autoAdjust="0"/>
    <p:restoredTop sz="94660"/>
  </p:normalViewPr>
  <p:slideViewPr>
    <p:cSldViewPr showGuides="1">
      <p:cViewPr varScale="1">
        <p:scale>
          <a:sx n="79" d="100"/>
          <a:sy n="79" d="100"/>
        </p:scale>
        <p:origin x="874" y="72"/>
      </p:cViewPr>
      <p:guideLst>
        <p:guide orient="horz" pos="2160"/>
        <p:guide pos="384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6698"/>
    </p:cViewPr>
  </p:sorterViewPr>
  <p:notesViewPr>
    <p:cSldViewPr showGuides="1">
      <p:cViewPr varScale="1">
        <p:scale>
          <a:sx n="46" d="100"/>
          <a:sy n="46" d="100"/>
        </p:scale>
        <p:origin x="-1242" y="-9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1.7639721875755243E-2"/>
          <c:w val="1"/>
          <c:h val="0.96472055624848951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2640" cap="rnd">
              <a:solidFill>
                <a:schemeClr val="tx1"/>
              </a:solidFill>
              <a:round/>
            </a:ln>
            <a:effectLst>
              <a:outerShdw blurRad="1270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3"/>
            <c:spPr>
              <a:solidFill>
                <a:srgbClr val="0000FF"/>
              </a:solidFill>
              <a:ln w="12640">
                <a:solidFill>
                  <a:schemeClr val="tx1"/>
                </a:solidFill>
                <a:round/>
              </a:ln>
              <a:effectLst>
                <a:outerShdw blurRad="1270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xVal>
            <c:numRef>
              <c:f>Sheet1!$A$2:$A$53</c:f>
              <c:numCache>
                <c:formatCode>General</c:formatCode>
                <c:ptCount val="52"/>
                <c:pt idx="0">
                  <c:v>0.55772135567958303</c:v>
                </c:pt>
                <c:pt idx="1">
                  <c:v>2.4712825587871201</c:v>
                </c:pt>
                <c:pt idx="2">
                  <c:v>4.4295175630140999</c:v>
                </c:pt>
                <c:pt idx="3">
                  <c:v>6.4057823524462396</c:v>
                </c:pt>
                <c:pt idx="4">
                  <c:v>8.3199445483939396</c:v>
                </c:pt>
                <c:pt idx="5">
                  <c:v>10.2168782829234</c:v>
                </c:pt>
                <c:pt idx="6">
                  <c:v>12.247232427970999</c:v>
                </c:pt>
                <c:pt idx="7">
                  <c:v>14.204265446517599</c:v>
                </c:pt>
                <c:pt idx="8">
                  <c:v>16.343198964689702</c:v>
                </c:pt>
                <c:pt idx="9">
                  <c:v>18.3186624303349</c:v>
                </c:pt>
                <c:pt idx="10">
                  <c:v>20.1532932404332</c:v>
                </c:pt>
                <c:pt idx="11">
                  <c:v>22.2874188158838</c:v>
                </c:pt>
                <c:pt idx="12">
                  <c:v>24.150696951363699</c:v>
                </c:pt>
                <c:pt idx="13">
                  <c:v>25.940327627127299</c:v>
                </c:pt>
                <c:pt idx="14">
                  <c:v>27.7273950462722</c:v>
                </c:pt>
                <c:pt idx="15">
                  <c:v>29.5465738870096</c:v>
                </c:pt>
                <c:pt idx="16">
                  <c:v>31.911679811329702</c:v>
                </c:pt>
                <c:pt idx="17">
                  <c:v>33.802622807649598</c:v>
                </c:pt>
                <c:pt idx="18">
                  <c:v>35.660955320774299</c:v>
                </c:pt>
                <c:pt idx="19">
                  <c:v>38.057771888186402</c:v>
                </c:pt>
                <c:pt idx="20">
                  <c:v>39.555787371447799</c:v>
                </c:pt>
                <c:pt idx="21">
                  <c:v>41.3839469888906</c:v>
                </c:pt>
                <c:pt idx="22">
                  <c:v>43.484448465858797</c:v>
                </c:pt>
                <c:pt idx="23">
                  <c:v>45.297730137231397</c:v>
                </c:pt>
                <c:pt idx="24">
                  <c:v>47.672912778136002</c:v>
                </c:pt>
                <c:pt idx="25">
                  <c:v>49.515443167526001</c:v>
                </c:pt>
                <c:pt idx="26">
                  <c:v>51.537817174454503</c:v>
                </c:pt>
                <c:pt idx="27">
                  <c:v>53.131872539615401</c:v>
                </c:pt>
                <c:pt idx="28">
                  <c:v>55.435225658345502</c:v>
                </c:pt>
                <c:pt idx="29">
                  <c:v>57.028937499077401</c:v>
                </c:pt>
                <c:pt idx="30">
                  <c:v>59.141576839204099</c:v>
                </c:pt>
                <c:pt idx="31">
                  <c:v>61.087532885717501</c:v>
                </c:pt>
                <c:pt idx="32">
                  <c:v>63.174064369238998</c:v>
                </c:pt>
                <c:pt idx="33">
                  <c:v>65.156883925279601</c:v>
                </c:pt>
                <c:pt idx="34">
                  <c:v>66.994433210449003</c:v>
                </c:pt>
                <c:pt idx="35">
                  <c:v>69.024757420795794</c:v>
                </c:pt>
                <c:pt idx="36">
                  <c:v>70.9504536385178</c:v>
                </c:pt>
                <c:pt idx="37">
                  <c:v>72.843809418361204</c:v>
                </c:pt>
                <c:pt idx="38">
                  <c:v>74.774257724017801</c:v>
                </c:pt>
                <c:pt idx="39">
                  <c:v>76.750493061835698</c:v>
                </c:pt>
                <c:pt idx="40">
                  <c:v>78.948752042848398</c:v>
                </c:pt>
                <c:pt idx="41">
                  <c:v>80.881261495079201</c:v>
                </c:pt>
                <c:pt idx="42">
                  <c:v>82.7718690794905</c:v>
                </c:pt>
                <c:pt idx="43">
                  <c:v>84.718626683004899</c:v>
                </c:pt>
                <c:pt idx="44">
                  <c:v>86.641631959366194</c:v>
                </c:pt>
                <c:pt idx="45">
                  <c:v>88.509288773625499</c:v>
                </c:pt>
                <c:pt idx="46">
                  <c:v>90.4637184227212</c:v>
                </c:pt>
                <c:pt idx="47">
                  <c:v>92.500226072790397</c:v>
                </c:pt>
                <c:pt idx="48">
                  <c:v>94.537649788003606</c:v>
                </c:pt>
                <c:pt idx="49">
                  <c:v>96.601058739158503</c:v>
                </c:pt>
                <c:pt idx="50">
                  <c:v>98.492181610213294</c:v>
                </c:pt>
                <c:pt idx="51">
                  <c:v>99.887057706708802</c:v>
                </c:pt>
              </c:numCache>
            </c:numRef>
          </c:xVal>
          <c:yVal>
            <c:numRef>
              <c:f>Sheet1!$B$2:$B$53</c:f>
              <c:numCache>
                <c:formatCode>General</c:formatCode>
                <c:ptCount val="52"/>
                <c:pt idx="0">
                  <c:v>8.5622848946459609</c:v>
                </c:pt>
                <c:pt idx="1">
                  <c:v>20.142214939079398</c:v>
                </c:pt>
                <c:pt idx="2">
                  <c:v>17.984951139282099</c:v>
                </c:pt>
                <c:pt idx="3">
                  <c:v>10.2835283888985</c:v>
                </c:pt>
                <c:pt idx="4">
                  <c:v>21.678653134979001</c:v>
                </c:pt>
                <c:pt idx="5">
                  <c:v>8.3715297671753692</c:v>
                </c:pt>
                <c:pt idx="6">
                  <c:v>14.037630165032599</c:v>
                </c:pt>
                <c:pt idx="7">
                  <c:v>12.249976961941099</c:v>
                </c:pt>
                <c:pt idx="8">
                  <c:v>14.527920124044901</c:v>
                </c:pt>
                <c:pt idx="9">
                  <c:v>7.0729044381317898</c:v>
                </c:pt>
                <c:pt idx="10">
                  <c:v>12.92393033291</c:v>
                </c:pt>
                <c:pt idx="11">
                  <c:v>16.680315881836801</c:v>
                </c:pt>
                <c:pt idx="12">
                  <c:v>13.7222892217944</c:v>
                </c:pt>
                <c:pt idx="13">
                  <c:v>11.982284995914201</c:v>
                </c:pt>
                <c:pt idx="14">
                  <c:v>11.030482180277099</c:v>
                </c:pt>
                <c:pt idx="15">
                  <c:v>8.77584579637419</c:v>
                </c:pt>
                <c:pt idx="16">
                  <c:v>10.077202639375599</c:v>
                </c:pt>
                <c:pt idx="17">
                  <c:v>20.040802699590401</c:v>
                </c:pt>
                <c:pt idx="18">
                  <c:v>14.3178406280143</c:v>
                </c:pt>
                <c:pt idx="19">
                  <c:v>14.439603291659299</c:v>
                </c:pt>
                <c:pt idx="20">
                  <c:v>16.656985045931499</c:v>
                </c:pt>
                <c:pt idx="21">
                  <c:v>20.212188396531602</c:v>
                </c:pt>
                <c:pt idx="22">
                  <c:v>17.165127085971299</c:v>
                </c:pt>
                <c:pt idx="23">
                  <c:v>16.723870281734701</c:v>
                </c:pt>
                <c:pt idx="24">
                  <c:v>14.926636775015</c:v>
                </c:pt>
                <c:pt idx="25">
                  <c:v>14.0628277518652</c:v>
                </c:pt>
                <c:pt idx="26">
                  <c:v>9.3256777642199502</c:v>
                </c:pt>
                <c:pt idx="27">
                  <c:v>16.296510120100098</c:v>
                </c:pt>
                <c:pt idx="28">
                  <c:v>10.872568967719801</c:v>
                </c:pt>
                <c:pt idx="29">
                  <c:v>17.949035085522201</c:v>
                </c:pt>
                <c:pt idx="30">
                  <c:v>11.169580853707</c:v>
                </c:pt>
                <c:pt idx="31">
                  <c:v>12.7880965508354</c:v>
                </c:pt>
                <c:pt idx="32">
                  <c:v>14.036808225115699</c:v>
                </c:pt>
                <c:pt idx="33">
                  <c:v>12.891223314053001</c:v>
                </c:pt>
                <c:pt idx="34">
                  <c:v>13.559103838776601</c:v>
                </c:pt>
                <c:pt idx="35">
                  <c:v>14.948694871401401</c:v>
                </c:pt>
                <c:pt idx="36">
                  <c:v>14.2256793504759</c:v>
                </c:pt>
                <c:pt idx="37">
                  <c:v>14.8759199057645</c:v>
                </c:pt>
                <c:pt idx="38">
                  <c:v>12.691637344913801</c:v>
                </c:pt>
                <c:pt idx="39">
                  <c:v>13.570699537362</c:v>
                </c:pt>
                <c:pt idx="40">
                  <c:v>14.748920018798</c:v>
                </c:pt>
                <c:pt idx="41">
                  <c:v>11.9308348864135</c:v>
                </c:pt>
                <c:pt idx="42">
                  <c:v>13.426145537080499</c:v>
                </c:pt>
                <c:pt idx="43">
                  <c:v>14.798182456390199</c:v>
                </c:pt>
                <c:pt idx="44">
                  <c:v>14.9026314038561</c:v>
                </c:pt>
                <c:pt idx="45">
                  <c:v>14.883875304860799</c:v>
                </c:pt>
                <c:pt idx="46">
                  <c:v>13.896758207905499</c:v>
                </c:pt>
                <c:pt idx="47">
                  <c:v>13.384941525928699</c:v>
                </c:pt>
                <c:pt idx="48">
                  <c:v>12.591434812158999</c:v>
                </c:pt>
                <c:pt idx="49">
                  <c:v>12.378896617738</c:v>
                </c:pt>
                <c:pt idx="50">
                  <c:v>13.7157566255216</c:v>
                </c:pt>
                <c:pt idx="51">
                  <c:v>13.3627855245803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249-40E3-BF9F-E86839A9D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10896"/>
        <c:axId val="1"/>
      </c:scatterChart>
      <c:valAx>
        <c:axId val="10810896"/>
        <c:scaling>
          <c:orientation val="minMax"/>
          <c:max val="100"/>
        </c:scaling>
        <c:delete val="1"/>
        <c:axPos val="b"/>
        <c:numFmt formatCode="General" sourceLinked="1"/>
        <c:majorTickMark val="out"/>
        <c:minorTickMark val="none"/>
        <c:tickLblPos val="nextTo"/>
        <c:crossAx val="1"/>
        <c:crosses val="autoZero"/>
        <c:crossBetween val="midCat"/>
        <c:majorUnit val="10"/>
      </c:valAx>
      <c:valAx>
        <c:axId val="1"/>
        <c:scaling>
          <c:orientation val="minMax"/>
          <c:max val="30"/>
        </c:scaling>
        <c:delete val="1"/>
        <c:axPos val="l"/>
        <c:numFmt formatCode="General" sourceLinked="1"/>
        <c:majorTickMark val="out"/>
        <c:minorTickMark val="none"/>
        <c:tickLblPos val="nextTo"/>
        <c:crossAx val="10810896"/>
        <c:crosses val="autoZero"/>
        <c:crossBetween val="midCat"/>
      </c:valAx>
      <c:spPr>
        <a:pattFill prst="ltDnDiag">
          <a:fgClr>
            <a:srgbClr val="000000">
              <a:alpha val="0"/>
            </a:srgbClr>
          </a:fgClr>
          <a:bgClr>
            <a:srgbClr val="FFFFFF"/>
          </a:bgClr>
        </a:pattFill>
        <a:ln w="25400"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9480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>
            <a:extLst>
              <a:ext uri="{FF2B5EF4-FFF2-40B4-BE49-F238E27FC236}">
                <a16:creationId xmlns:a16="http://schemas.microsoft.com/office/drawing/2014/main" id="{8D880652-E207-4556-B1E6-A2AD1478F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8534400"/>
            <a:ext cx="609600" cy="271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US" sz="1200" b="1" dirty="0"/>
              <a:t>2-</a:t>
            </a:r>
            <a:fld id="{44F0C55D-03E4-4CBF-AD77-9FB660CEFB13}" type="slidenum">
              <a:rPr lang="en-US" altLang="en-US" sz="1200" b="1"/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t>‹#›</a:t>
            </a:fld>
            <a:endParaRPr lang="en-US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359A44C-2E3B-466F-A944-BE12A0C8B1B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E5C16FB-CAFB-453A-9776-6C5CD267D35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30DCF0F6-D39B-4895-83B0-602CC6F3462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400" y="696913"/>
            <a:ext cx="61976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65680529-DD9D-4C59-8EDF-2D01F406DD3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9BAE97BE-0D5B-473D-886B-0CD6677AFAF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1230AFEA-EA72-4B3B-AF90-DE1AD82056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8332A17-DF50-48B9-A6BE-A1607DD9BD4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AE14F442-DDA2-48CD-A202-7158F7386B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1B334B-DCDA-4C28-AD31-2D874DFB0F43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D47CB7B-251E-4A34-83D5-98002B240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F534CAE4-BEE6-4BFB-9F70-1782D6034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207" tIns="45295" rIns="92207" bIns="45295" anchor="b"/>
          <a:lstStyle>
            <a:lvl1pPr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r>
              <a:rPr lang="en-US" altLang="en-US" sz="12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0245" name="Rectangle 4">
            <a:extLst>
              <a:ext uri="{FF2B5EF4-FFF2-40B4-BE49-F238E27FC236}">
                <a16:creationId xmlns:a16="http://schemas.microsoft.com/office/drawing/2014/main" id="{B62CF044-9300-45C5-8F42-990E7C11D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10246" name="Rectangle 5">
            <a:extLst>
              <a:ext uri="{FF2B5EF4-FFF2-40B4-BE49-F238E27FC236}">
                <a16:creationId xmlns:a16="http://schemas.microsoft.com/office/drawing/2014/main" id="{AC41E6C9-B945-4A2C-B276-3B9A04FF6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10247" name="Rectangle 6">
            <a:extLst>
              <a:ext uri="{FF2B5EF4-FFF2-40B4-BE49-F238E27FC236}">
                <a16:creationId xmlns:a16="http://schemas.microsoft.com/office/drawing/2014/main" id="{EFDE1B60-CF4B-4D5F-A303-218F4DD811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/>
        </p:spPr>
      </p:sp>
      <p:sp>
        <p:nvSpPr>
          <p:cNvPr id="10248" name="Rectangle 7">
            <a:extLst>
              <a:ext uri="{FF2B5EF4-FFF2-40B4-BE49-F238E27FC236}">
                <a16:creationId xmlns:a16="http://schemas.microsoft.com/office/drawing/2014/main" id="{48202044-37AE-4820-816D-13C2039BC3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1225" y="4413250"/>
            <a:ext cx="5172075" cy="418465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207" tIns="45295" rIns="92207" bIns="45295"/>
          <a:lstStyle/>
          <a:p>
            <a:pPr eaLnBrk="1" hangingPunct="1"/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631237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5" Type="http://schemas.openxmlformats.org/officeDocument/2006/relationships/image" Target="../media/image4.jpeg"/><Relationship Id="rId4" Type="http://schemas.openxmlformats.org/officeDocument/2006/relationships/image" Target="../media/image3.w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935DA-6777-4C5A-8907-D3BAC9D63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71BD6-AE4B-45F9-860F-AB141AD06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B91E4-FA23-4AE8-8BD0-789E28455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855B26-4495-456F-BFAD-BF93451C976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47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9C0BB-C917-4F62-9919-98FF2789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10528-CFAD-46C3-89FD-4E5E6FBC4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F9359-A774-448A-9879-9265C70DA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9BFBB-AA65-4C2E-969E-B83D2CC0502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014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725B7-6C83-4732-AE89-6D9195171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3988-8521-46DD-89D4-C9C54990C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AD446-42F9-4A68-AED2-E6CBC717D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6FAC89-D826-44BA-A2F1-3C4353D1512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023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E873712-B627-4893-8B2F-AF2FCB16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045A6FA-1172-4535-AA5D-49E4C95EB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97AAF76-5A9E-463B-A7F4-7C8A80230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5FD76B-02A6-41CA-8035-DD3D64D799A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107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C1091CE-A546-493C-9AB9-EE0556A98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3A41F7B-0136-417E-93E9-54D6210DA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050D33D-FA6C-45E2-B7B4-35AC51BBB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D515C5-8C81-4B5E-8C96-17C49139DF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159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EE9D9AD-670D-42E3-97C0-496216A0B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754328-77D2-4BF5-9032-FEF8DB1CC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8517782-9B03-4A7E-890C-DAAB56BC8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AED4B-D00B-4B5A-9489-11F1ACD01A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120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4534DD5-0317-42F8-9D24-B98964883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787DA49-A61D-4895-A4C0-D1BB616FD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3BAB198-0047-4049-B92D-A6BC1E030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AFCCBF-0CA9-421C-A894-5F28C527070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969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EFC7BE2-2960-4CE2-855B-A33E89FAE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99D85E8-262E-4640-97B6-26CAE298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D3ED2DC-6581-46BF-BFC3-B1724BD07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E61C5-7836-4E33-A476-E6580B89AB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774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A8B3DBE-527D-45AE-BD00-B6C81D4C6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D4A15F8-8189-46A3-9FCF-4E69F050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2882C94-4980-4361-B83D-2A4CF3B6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31322E-0BDC-4952-90C5-410ACB150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621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E77A7-5CB3-4BC1-8AEF-899F2C731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AAE34-B50C-440B-B8A0-F78218242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F88AA-D61B-4159-ABA0-FC2D9F5CB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971AED-C347-4EB1-9D39-F2EBDFED073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056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CCACC-092F-40BA-984E-E4EA28912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2691F-8F52-4607-86A4-047238B81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099EA-75C8-4C6F-8BB6-E05902DDA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AAC85E-6422-49BB-AD62-06FE08C3F7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343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8467" y="57150"/>
            <a:ext cx="12175067" cy="63500"/>
          </a:xfrm>
          <a:prstGeom prst="rect">
            <a:avLst/>
          </a:prstGeom>
          <a:solidFill>
            <a:schemeClr val="tx2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5588000" y="6400800"/>
            <a:ext cx="812800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200" b="1" dirty="0"/>
              <a:t>3-</a:t>
            </a:r>
            <a:fld id="{6F515C78-061E-8248-B292-21AF3725B2FA}" type="slidenum">
              <a:rPr lang="en-US" sz="1200" b="1"/>
              <a:pPr algn="ctr" eaLnBrk="0" hangingPunct="0">
                <a:spcBef>
                  <a:spcPct val="50000"/>
                </a:spcBef>
              </a:pPr>
              <a:t>‹#›</a:t>
            </a:fld>
            <a:endParaRPr lang="en-US" sz="1200" b="1" dirty="0"/>
          </a:p>
        </p:txBody>
      </p:sp>
      <p:sp>
        <p:nvSpPr>
          <p:cNvPr id="8" name="Text Box 11"/>
          <p:cNvSpPr txBox="1">
            <a:spLocks noChangeArrowheads="1"/>
          </p:cNvSpPr>
          <p:nvPr userDrawn="1"/>
        </p:nvSpPr>
        <p:spPr bwMode="auto">
          <a:xfrm>
            <a:off x="7823200" y="838200"/>
            <a:ext cx="2540000" cy="156966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dirty="0"/>
              <a:t> </a:t>
            </a:r>
          </a:p>
          <a:p>
            <a:pPr eaLnBrk="0" hangingPunct="0">
              <a:spcBef>
                <a:spcPct val="50000"/>
              </a:spcBef>
            </a:pPr>
            <a:r>
              <a:rPr lang="en-US" sz="2400" dirty="0"/>
              <a:t> </a:t>
            </a:r>
          </a:p>
          <a:p>
            <a:pPr eaLnBrk="0" hangingPunct="0">
              <a:spcBef>
                <a:spcPct val="50000"/>
              </a:spcBef>
            </a:pPr>
            <a:endParaRPr lang="en-US" sz="2400" dirty="0"/>
          </a:p>
        </p:txBody>
      </p:sp>
      <p:sp>
        <p:nvSpPr>
          <p:cNvPr id="9" name="Line 18"/>
          <p:cNvSpPr>
            <a:spLocks noChangeShapeType="1"/>
          </p:cNvSpPr>
          <p:nvPr userDrawn="1"/>
        </p:nvSpPr>
        <p:spPr bwMode="auto">
          <a:xfrm flipH="1">
            <a:off x="3454400" y="1981200"/>
            <a:ext cx="2844800" cy="0"/>
          </a:xfrm>
          <a:prstGeom prst="line">
            <a:avLst/>
          </a:prstGeom>
          <a:noFill/>
          <a:ln w="50800">
            <a:solidFill>
              <a:srgbClr val="CC3300"/>
            </a:solidFill>
            <a:round/>
            <a:headEnd/>
            <a:tailEnd type="stealth" w="lg" len="lg"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en-SG" dirty="0"/>
          </a:p>
        </p:txBody>
      </p:sp>
      <p:pic>
        <p:nvPicPr>
          <p:cNvPr id="28" name="Рисунок 2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57" y="6353845"/>
            <a:ext cx="1072444" cy="48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Группа 13"/>
          <p:cNvGrpSpPr>
            <a:grpSpLocks/>
          </p:cNvGrpSpPr>
          <p:nvPr userDrawn="1"/>
        </p:nvGrpSpPr>
        <p:grpSpPr bwMode="auto">
          <a:xfrm>
            <a:off x="3556000" y="381000"/>
            <a:ext cx="5994400" cy="1219200"/>
            <a:chOff x="2895600" y="2286000"/>
            <a:chExt cx="4495800" cy="1219200"/>
          </a:xfrm>
        </p:grpSpPr>
        <p:pic>
          <p:nvPicPr>
            <p:cNvPr id="31" name="Picture 10"/>
            <p:cNvPicPr>
              <a:picLocks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600" y="2286000"/>
              <a:ext cx="2590800" cy="121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" name="Рисунок 15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5600" y="2338389"/>
              <a:ext cx="1905000" cy="11438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9" name="Group 20">
            <a:extLst>
              <a:ext uri="{FF2B5EF4-FFF2-40B4-BE49-F238E27FC236}">
                <a16:creationId xmlns:a16="http://schemas.microsoft.com/office/drawing/2014/main" id="{679AA8F9-914A-4B98-9E0A-D2FA4431504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69788" y="1514459"/>
            <a:ext cx="2362200" cy="2862263"/>
            <a:chOff x="48" y="3072"/>
            <a:chExt cx="864" cy="971"/>
          </a:xfrm>
        </p:grpSpPr>
        <p:grpSp>
          <p:nvGrpSpPr>
            <p:cNvPr id="33" name="Group 21">
              <a:extLst>
                <a:ext uri="{FF2B5EF4-FFF2-40B4-BE49-F238E27FC236}">
                  <a16:creationId xmlns:a16="http://schemas.microsoft.com/office/drawing/2014/main" id="{89B92B18-C35E-4211-82E4-D03410B136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" y="3088"/>
              <a:ext cx="852" cy="950"/>
              <a:chOff x="1678" y="866"/>
              <a:chExt cx="3026" cy="2782"/>
            </a:xfrm>
          </p:grpSpPr>
          <p:sp>
            <p:nvSpPr>
              <p:cNvPr id="40" name="Oval 22">
                <a:extLst>
                  <a:ext uri="{FF2B5EF4-FFF2-40B4-BE49-F238E27FC236}">
                    <a16:creationId xmlns:a16="http://schemas.microsoft.com/office/drawing/2014/main" id="{0DD6D324-0E69-4EA6-9048-7B92F40D8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964"/>
                <a:ext cx="1769" cy="684"/>
              </a:xfrm>
              <a:prstGeom prst="ellipse">
                <a:avLst/>
              </a:prstGeom>
              <a:solidFill>
                <a:srgbClr val="66FF66"/>
              </a:solidFill>
              <a:ln w="12700" algn="ctr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SG" dirty="0"/>
              </a:p>
            </p:txBody>
          </p:sp>
          <p:sp>
            <p:nvSpPr>
              <p:cNvPr id="41" name="Oval 23">
                <a:extLst>
                  <a:ext uri="{FF2B5EF4-FFF2-40B4-BE49-F238E27FC236}">
                    <a16:creationId xmlns:a16="http://schemas.microsoft.com/office/drawing/2014/main" id="{B37E8E58-5F15-4403-B740-8F14388A02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574"/>
                <a:ext cx="1769" cy="585"/>
              </a:xfrm>
              <a:prstGeom prst="ellipse">
                <a:avLst/>
              </a:prstGeom>
              <a:solidFill>
                <a:srgbClr val="FF9933"/>
              </a:solidFill>
              <a:ln w="12700" algn="ctr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SG" dirty="0"/>
              </a:p>
            </p:txBody>
          </p:sp>
          <p:sp>
            <p:nvSpPr>
              <p:cNvPr id="42" name="Oval 24">
                <a:extLst>
                  <a:ext uri="{FF2B5EF4-FFF2-40B4-BE49-F238E27FC236}">
                    <a16:creationId xmlns:a16="http://schemas.microsoft.com/office/drawing/2014/main" id="{D0AE4148-3752-4F51-A4C1-D8A376A684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2" y="1989"/>
                <a:ext cx="1765" cy="781"/>
              </a:xfrm>
              <a:prstGeom prst="ellipse">
                <a:avLst/>
              </a:prstGeom>
              <a:solidFill>
                <a:srgbClr val="FFFF66"/>
              </a:solidFill>
              <a:ln w="12700" algn="ctr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SG" dirty="0"/>
              </a:p>
            </p:txBody>
          </p:sp>
          <p:sp>
            <p:nvSpPr>
              <p:cNvPr id="43" name="Oval 25">
                <a:extLst>
                  <a:ext uri="{FF2B5EF4-FFF2-40B4-BE49-F238E27FC236}">
                    <a16:creationId xmlns:a16="http://schemas.microsoft.com/office/drawing/2014/main" id="{A87CE341-D524-4840-84FE-38C209314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9" y="1306"/>
                <a:ext cx="2271" cy="975"/>
              </a:xfrm>
              <a:prstGeom prst="ellipse">
                <a:avLst/>
              </a:prstGeom>
              <a:solidFill>
                <a:srgbClr val="FF5050"/>
              </a:solidFill>
              <a:ln w="12700" algn="ctr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SG" dirty="0"/>
              </a:p>
            </p:txBody>
          </p:sp>
          <p:grpSp>
            <p:nvGrpSpPr>
              <p:cNvPr id="44" name="Group 26">
                <a:extLst>
                  <a:ext uri="{FF2B5EF4-FFF2-40B4-BE49-F238E27FC236}">
                    <a16:creationId xmlns:a16="http://schemas.microsoft.com/office/drawing/2014/main" id="{49BDE60E-23DE-48D5-9CB8-51259B5EFE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79" y="866"/>
                <a:ext cx="2773" cy="878"/>
                <a:chOff x="1869" y="673"/>
                <a:chExt cx="2642" cy="863"/>
              </a:xfrm>
            </p:grpSpPr>
            <p:sp>
              <p:nvSpPr>
                <p:cNvPr id="47" name="Oval 27">
                  <a:extLst>
                    <a:ext uri="{FF2B5EF4-FFF2-40B4-BE49-F238E27FC236}">
                      <a16:creationId xmlns:a16="http://schemas.microsoft.com/office/drawing/2014/main" id="{A2402A97-34CB-42B1-8521-DCAA0CBF61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61" y="673"/>
                  <a:ext cx="2164" cy="863"/>
                </a:xfrm>
                <a:prstGeom prst="ellipse">
                  <a:avLst/>
                </a:prstGeom>
                <a:solidFill>
                  <a:srgbClr val="6699FF"/>
                </a:solidFill>
                <a:ln w="12700" algn="ctr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defRPr/>
                  </a:pPr>
                  <a:endParaRPr lang="en-SG" dirty="0"/>
                </a:p>
              </p:txBody>
            </p:sp>
            <p:sp>
              <p:nvSpPr>
                <p:cNvPr id="48" name="Rectangle 28">
                  <a:extLst>
                    <a:ext uri="{FF2B5EF4-FFF2-40B4-BE49-F238E27FC236}">
                      <a16:creationId xmlns:a16="http://schemas.microsoft.com/office/drawing/2014/main" id="{DE243DF6-71EE-4E45-BD18-09AD503A3A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69" y="867"/>
                  <a:ext cx="2642" cy="479"/>
                </a:xfrm>
                <a:prstGeom prst="rect">
                  <a:avLst/>
                </a:prstGeom>
                <a:solidFill>
                  <a:srgbClr val="6699FF"/>
                </a:solidFill>
                <a:ln w="12700" algn="ctr">
                  <a:noFill/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defRPr/>
                  </a:pPr>
                  <a:endParaRPr lang="en-SG" dirty="0"/>
                </a:p>
              </p:txBody>
            </p:sp>
          </p:grpSp>
          <p:sp>
            <p:nvSpPr>
              <p:cNvPr id="45" name="Arc 29">
                <a:extLst>
                  <a:ext uri="{FF2B5EF4-FFF2-40B4-BE49-F238E27FC236}">
                    <a16:creationId xmlns:a16="http://schemas.microsoft.com/office/drawing/2014/main" id="{B24CFFDF-7CB6-41B1-81C4-BFF03C34C6DA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 flipH="1" flipV="1">
                <a:off x="1678" y="1013"/>
                <a:ext cx="1160" cy="259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SG" dirty="0"/>
              </a:p>
            </p:txBody>
          </p:sp>
          <p:sp>
            <p:nvSpPr>
              <p:cNvPr id="46" name="Arc 30">
                <a:extLst>
                  <a:ext uri="{FF2B5EF4-FFF2-40B4-BE49-F238E27FC236}">
                    <a16:creationId xmlns:a16="http://schemas.microsoft.com/office/drawing/2014/main" id="{5E8A0FF8-0C0E-4699-A762-E49F000C9356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 flipV="1">
                <a:off x="3595" y="1013"/>
                <a:ext cx="1109" cy="260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SG" dirty="0"/>
              </a:p>
            </p:txBody>
          </p:sp>
        </p:grpSp>
        <p:sp>
          <p:nvSpPr>
            <p:cNvPr id="34" name="Oval 31">
              <a:extLst>
                <a:ext uri="{FF2B5EF4-FFF2-40B4-BE49-F238E27FC236}">
                  <a16:creationId xmlns:a16="http://schemas.microsoft.com/office/drawing/2014/main" id="{5990DD80-5148-44AA-AF51-7E3F879794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" y="3072"/>
              <a:ext cx="864" cy="117"/>
            </a:xfrm>
            <a:prstGeom prst="ellipse">
              <a:avLst/>
            </a:prstGeom>
            <a:gradFill rotWithShape="1">
              <a:gsLst>
                <a:gs pos="0">
                  <a:srgbClr val="000099"/>
                </a:gs>
                <a:gs pos="100000">
                  <a:srgbClr val="DDDDDD"/>
                </a:gs>
              </a:gsLst>
              <a:lin ang="0" scaled="1"/>
            </a:gradFill>
            <a:ln w="127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en-SG" dirty="0"/>
            </a:p>
          </p:txBody>
        </p:sp>
        <p:sp>
          <p:nvSpPr>
            <p:cNvPr id="35" name="Text Box 32">
              <a:extLst>
                <a:ext uri="{FF2B5EF4-FFF2-40B4-BE49-F238E27FC236}">
                  <a16:creationId xmlns:a16="http://schemas.microsoft.com/office/drawing/2014/main" id="{D382BF92-A1E3-407F-80F9-86EAEC9A4A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" y="3211"/>
              <a:ext cx="114" cy="10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400" dirty="0">
                  <a:latin typeface="Arial Rounded MT Bold" pitchFamily="34" charset="0"/>
                </a:rPr>
                <a:t>D</a:t>
              </a:r>
            </a:p>
          </p:txBody>
        </p:sp>
        <p:sp>
          <p:nvSpPr>
            <p:cNvPr id="36" name="Text Box 33">
              <a:extLst>
                <a:ext uri="{FF2B5EF4-FFF2-40B4-BE49-F238E27FC236}">
                  <a16:creationId xmlns:a16="http://schemas.microsoft.com/office/drawing/2014/main" id="{C48F7E8E-8904-4CE3-BCCF-05FB52876E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" y="3394"/>
              <a:ext cx="121" cy="10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400" dirty="0">
                  <a:latin typeface="Arial Rounded MT Bold" pitchFamily="34" charset="0"/>
                </a:rPr>
                <a:t>M</a:t>
              </a:r>
            </a:p>
          </p:txBody>
        </p:sp>
        <p:sp>
          <p:nvSpPr>
            <p:cNvPr id="37" name="Text Box 34">
              <a:extLst>
                <a:ext uri="{FF2B5EF4-FFF2-40B4-BE49-F238E27FC236}">
                  <a16:creationId xmlns:a16="http://schemas.microsoft.com/office/drawing/2014/main" id="{5F991FFE-D30B-4934-849C-0341A17E12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" y="3561"/>
              <a:ext cx="111" cy="10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400" dirty="0">
                  <a:latin typeface="Arial Rounded MT Bold" pitchFamily="34" charset="0"/>
                </a:rPr>
                <a:t>A</a:t>
              </a:r>
            </a:p>
          </p:txBody>
        </p:sp>
        <p:sp>
          <p:nvSpPr>
            <p:cNvPr id="38" name="Text Box 35">
              <a:extLst>
                <a:ext uri="{FF2B5EF4-FFF2-40B4-BE49-F238E27FC236}">
                  <a16:creationId xmlns:a16="http://schemas.microsoft.com/office/drawing/2014/main" id="{CDF3669D-A15C-4F09-9DC7-F997AC2DAC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715"/>
              <a:ext cx="85" cy="10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400" dirty="0">
                  <a:latin typeface="Arial Rounded MT Bold" pitchFamily="34" charset="0"/>
                </a:rPr>
                <a:t>I</a:t>
              </a:r>
            </a:p>
          </p:txBody>
        </p:sp>
        <p:sp>
          <p:nvSpPr>
            <p:cNvPr id="39" name="Text Box 36">
              <a:extLst>
                <a:ext uri="{FF2B5EF4-FFF2-40B4-BE49-F238E27FC236}">
                  <a16:creationId xmlns:a16="http://schemas.microsoft.com/office/drawing/2014/main" id="{F8CE0E50-8A11-43D4-B18B-E35F57C6B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" y="3865"/>
              <a:ext cx="114" cy="10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400" dirty="0">
                  <a:latin typeface="Arial Rounded MT Bold" pitchFamily="34" charset="0"/>
                </a:rPr>
                <a:t>C</a:t>
              </a:r>
            </a:p>
          </p:txBody>
        </p:sp>
      </p:grpSp>
      <p:sp>
        <p:nvSpPr>
          <p:cNvPr id="49" name="Text Box 8">
            <a:extLst>
              <a:ext uri="{FF2B5EF4-FFF2-40B4-BE49-F238E27FC236}">
                <a16:creationId xmlns:a16="http://schemas.microsoft.com/office/drawing/2014/main" id="{45212602-2C93-4202-B8F7-5F5F307D5DE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546643" y="6593363"/>
            <a:ext cx="1600200" cy="2308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© </a:t>
            </a:r>
            <a:r>
              <a:rPr lang="en-US" sz="900" b="1" dirty="0">
                <a:sym typeface="Symbol" pitchFamily="18" charset="2"/>
              </a:rPr>
              <a:t>SixSigma.us 2020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9300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8136"/>
            <a:ext cx="10972800" cy="563562"/>
          </a:xfrm>
        </p:spPr>
        <p:txBody>
          <a:bodyPr/>
          <a:lstStyle>
            <a:lvl1pPr>
              <a:defRPr sz="2800">
                <a:solidFill>
                  <a:srgbClr val="005388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048672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47949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90600"/>
            <a:ext cx="5384800" cy="5135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90600"/>
            <a:ext cx="5384800" cy="5135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279591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19489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36863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54812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300526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SG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14094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077479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425009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635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990600"/>
            <a:ext cx="10972800" cy="5135563"/>
          </a:xfrm>
        </p:spPr>
        <p:txBody>
          <a:bodyPr/>
          <a:lstStyle/>
          <a:p>
            <a:pPr lvl="0"/>
            <a:endParaRPr lang="en-SG" noProof="0" dirty="0"/>
          </a:p>
        </p:txBody>
      </p:sp>
    </p:spTree>
    <p:extLst>
      <p:ext uri="{BB962C8B-B14F-4D97-AF65-F5344CB8AC3E}">
        <p14:creationId xmlns:p14="http://schemas.microsoft.com/office/powerpoint/2010/main" val="25974705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1430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0"/>
            <a:ext cx="10972800" cy="1143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2E9E13-A6C8-476B-9DD9-E4912ACD3A3A}" type="datetimeFigureOut">
              <a:rPr lang="en-US"/>
              <a:pPr>
                <a:defRPr/>
              </a:pPr>
              <a:t>2/15/2024</a:t>
            </a:fld>
            <a:endParaRPr lang="en-US" dirty="0"/>
          </a:p>
        </p:txBody>
      </p:sp>
      <p:sp>
        <p:nvSpPr>
          <p:cNvPr id="8" name="Rectangle 6"/>
          <p:cNvSpPr txBox="1">
            <a:spLocks noGrp="1" noChangeArrowheads="1"/>
          </p:cNvSpPr>
          <p:nvPr userDrawn="1"/>
        </p:nvSpPr>
        <p:spPr bwMode="auto">
          <a:xfrm>
            <a:off x="9347200" y="6546850"/>
            <a:ext cx="28448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b"/>
          <a:lstStyle/>
          <a:p>
            <a:pPr algn="r"/>
            <a:fld id="{9BE65E66-5B96-4ACE-B268-775494BB4239}" type="slidenum">
              <a:rPr lang="en-US" sz="1000">
                <a:solidFill>
                  <a:srgbClr val="FFFFFF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pPr algn="r"/>
              <a:t>‹#›</a:t>
            </a:fld>
            <a:endParaRPr lang="en-US" sz="1000" dirty="0">
              <a:solidFill>
                <a:srgbClr val="FFFFFF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796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4AE5879-D141-4A2C-92A4-63A62FB49E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36913FE-909C-4F9A-916D-E86296AF7D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CAA85-107B-4514-AB4C-39A7771C3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C2213-3848-4A29-8FED-9F03994D0F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CA52D-473C-4B99-A1B5-044C4DFAA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8822F72-56B0-4F5A-B610-9A5773EACC8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1" name="Picture 2" descr="C:\Users\Svetlana\Desktop\Создание сайта\SS_logo_one.jpg">
            <a:extLst>
              <a:ext uri="{FF2B5EF4-FFF2-40B4-BE49-F238E27FC236}">
                <a16:creationId xmlns:a16="http://schemas.microsoft.com/office/drawing/2014/main" id="{C4A83764-99D7-4D8B-A899-DCCDEA4CB43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505575"/>
            <a:ext cx="8128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990600"/>
            <a:ext cx="10972800" cy="513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23588" name="Rectangle 1028"/>
          <p:cNvSpPr>
            <a:spLocks noChangeArrowheads="1"/>
          </p:cNvSpPr>
          <p:nvPr/>
        </p:nvSpPr>
        <p:spPr bwMode="auto">
          <a:xfrm>
            <a:off x="8467" y="57150"/>
            <a:ext cx="12175067" cy="63500"/>
          </a:xfrm>
          <a:prstGeom prst="rect">
            <a:avLst/>
          </a:prstGeom>
          <a:solidFill>
            <a:srgbClr val="005388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323589" name="Rectangle 1029"/>
          <p:cNvSpPr>
            <a:spLocks noChangeArrowheads="1"/>
          </p:cNvSpPr>
          <p:nvPr/>
        </p:nvSpPr>
        <p:spPr bwMode="auto">
          <a:xfrm>
            <a:off x="5689600" y="6400800"/>
            <a:ext cx="812800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  <a:spAutoFit/>
          </a:bodyPr>
          <a:lstStyle/>
          <a:p>
            <a:pPr algn="ctr" eaLnBrk="0" hangingPunct="0">
              <a:spcBef>
                <a:spcPct val="50000"/>
              </a:spcBef>
            </a:pPr>
            <a:fld id="{21738BDE-7906-BD45-8C1F-43CBB0ED12EB}" type="slidenum">
              <a:rPr lang="en-US" sz="1200" b="1" smtClean="0"/>
              <a:pPr algn="ctr" eaLnBrk="0" hangingPunct="0">
                <a:spcBef>
                  <a:spcPct val="50000"/>
                </a:spcBef>
              </a:pPr>
              <a:t>‹#›</a:t>
            </a:fld>
            <a:endParaRPr lang="en-US" sz="1200" b="1" dirty="0"/>
          </a:p>
        </p:txBody>
      </p:sp>
      <p:pic>
        <p:nvPicPr>
          <p:cNvPr id="8" name="Рисунок 28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57" y="6353845"/>
            <a:ext cx="1072444" cy="48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8">
            <a:extLst>
              <a:ext uri="{FF2B5EF4-FFF2-40B4-BE49-F238E27FC236}">
                <a16:creationId xmlns:a16="http://schemas.microsoft.com/office/drawing/2014/main" id="{625EBA1C-A1E6-42B4-8E7B-41A2BE38D08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591800" y="6558295"/>
            <a:ext cx="1600200" cy="2308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© </a:t>
            </a:r>
            <a:r>
              <a:rPr lang="en-US" sz="900" b="1" dirty="0">
                <a:sym typeface="Symbol" pitchFamily="18" charset="2"/>
              </a:rPr>
              <a:t>SixSigma.us 2020</a:t>
            </a:r>
          </a:p>
        </p:txBody>
      </p:sp>
    </p:spTree>
    <p:custDataLst>
      <p:tags r:id="rId15"/>
    </p:custDataLst>
    <p:extLst>
      <p:ext uri="{BB962C8B-B14F-4D97-AF65-F5344CB8AC3E}">
        <p14:creationId xmlns:p14="http://schemas.microsoft.com/office/powerpoint/2010/main" val="1429776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6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200" b="1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lowchart: Manual Input 31">
            <a:extLst>
              <a:ext uri="{FF2B5EF4-FFF2-40B4-BE49-F238E27FC236}">
                <a16:creationId xmlns:a16="http://schemas.microsoft.com/office/drawing/2014/main" id="{C391D71A-A500-4521-AF89-CB6289CC72C3}"/>
              </a:ext>
            </a:extLst>
          </p:cNvPr>
          <p:cNvSpPr/>
          <p:nvPr/>
        </p:nvSpPr>
        <p:spPr>
          <a:xfrm rot="16200000" flipH="1">
            <a:off x="5355245" y="207357"/>
            <a:ext cx="6857999" cy="6443288"/>
          </a:xfrm>
          <a:prstGeom prst="flowChartManualInput">
            <a:avLst/>
          </a:prstGeom>
          <a:solidFill>
            <a:srgbClr val="57B2EC"/>
          </a:solidFill>
          <a:ln>
            <a:solidFill>
              <a:srgbClr val="57B2E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1" hangingPunct="1"/>
            <a:endParaRPr lang="en-US" dirty="0"/>
          </a:p>
        </p:txBody>
      </p:sp>
      <p:sp>
        <p:nvSpPr>
          <p:cNvPr id="2" name="Flowchart: Manual Input 1">
            <a:extLst>
              <a:ext uri="{FF2B5EF4-FFF2-40B4-BE49-F238E27FC236}">
                <a16:creationId xmlns:a16="http://schemas.microsoft.com/office/drawing/2014/main" id="{2647A053-F0BF-49C5-8AFA-C4A8E518F781}"/>
              </a:ext>
            </a:extLst>
          </p:cNvPr>
          <p:cNvSpPr/>
          <p:nvPr/>
        </p:nvSpPr>
        <p:spPr>
          <a:xfrm rot="16200000" flipH="1">
            <a:off x="5600702" y="266701"/>
            <a:ext cx="6858000" cy="6324602"/>
          </a:xfrm>
          <a:prstGeom prst="flowChartManualInput">
            <a:avLst/>
          </a:prstGeom>
          <a:solidFill>
            <a:srgbClr val="0053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1" hangingPunct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DFAC7-A649-43BE-A3F8-6B9DE081F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99BFBB-AA65-4C2E-969E-B83D2CC0502E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797034-3B0D-4499-8752-B282DD694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617396"/>
            <a:ext cx="3991665" cy="4394138"/>
          </a:xfrm>
          <a:prstGeom prst="rect">
            <a:avLst/>
          </a:prstGeom>
        </p:spPr>
      </p:pic>
      <p:pic>
        <p:nvPicPr>
          <p:cNvPr id="23" name="Рисунок 27">
            <a:extLst>
              <a:ext uri="{FF2B5EF4-FFF2-40B4-BE49-F238E27FC236}">
                <a16:creationId xmlns:a16="http://schemas.microsoft.com/office/drawing/2014/main" id="{4B7970A9-0311-4F92-AC58-1F871A8A1A2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8598" y="1158185"/>
            <a:ext cx="2133148" cy="10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Group 36">
            <a:extLst>
              <a:ext uri="{FF2B5EF4-FFF2-40B4-BE49-F238E27FC236}">
                <a16:creationId xmlns:a16="http://schemas.microsoft.com/office/drawing/2014/main" id="{E038AD7C-1D1C-4A39-BBA9-B8D27E36CEEC}"/>
              </a:ext>
            </a:extLst>
          </p:cNvPr>
          <p:cNvGrpSpPr>
            <a:grpSpLocks/>
          </p:cNvGrpSpPr>
          <p:nvPr/>
        </p:nvGrpSpPr>
        <p:grpSpPr bwMode="auto">
          <a:xfrm>
            <a:off x="2621998" y="1124525"/>
            <a:ext cx="3241170" cy="1231144"/>
            <a:chOff x="2223007" y="525117"/>
            <a:chExt cx="4246121" cy="1737235"/>
          </a:xfrm>
        </p:grpSpPr>
        <p:graphicFrame>
          <p:nvGraphicFramePr>
            <p:cNvPr id="25" name="Chart 22">
              <a:extLst>
                <a:ext uri="{FF2B5EF4-FFF2-40B4-BE49-F238E27FC236}">
                  <a16:creationId xmlns:a16="http://schemas.microsoft.com/office/drawing/2014/main" id="{6B42B70C-2D15-455A-91D0-098B7CE3389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223007" y="567590"/>
            <a:ext cx="4246121" cy="156591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cxnSp>
          <p:nvCxnSpPr>
            <p:cNvPr id="26" name="Straight Connector 24">
              <a:extLst>
                <a:ext uri="{FF2B5EF4-FFF2-40B4-BE49-F238E27FC236}">
                  <a16:creationId xmlns:a16="http://schemas.microsoft.com/office/drawing/2014/main" id="{9DA2AC5A-EA50-4E10-856A-E09DE340DC7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286000" y="2070514"/>
              <a:ext cx="2514600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7FC7A90-2B62-4888-A7BF-EAF138BA250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286000" y="624956"/>
              <a:ext cx="2514600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20C054E-CB95-44AC-B49C-B35A4175CC8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01279" y="525117"/>
              <a:ext cx="0" cy="173723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Straight Connector 30">
              <a:extLst>
                <a:ext uri="{FF2B5EF4-FFF2-40B4-BE49-F238E27FC236}">
                  <a16:creationId xmlns:a16="http://schemas.microsoft.com/office/drawing/2014/main" id="{9090E95E-B2F7-42E7-837D-301E839CF2F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00600" y="1549940"/>
              <a:ext cx="1605536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Straight Connector 32">
              <a:extLst>
                <a:ext uri="{FF2B5EF4-FFF2-40B4-BE49-F238E27FC236}">
                  <a16:creationId xmlns:a16="http://schemas.microsoft.com/office/drawing/2014/main" id="{6C4AC0A0-1F89-46E7-9ADC-16DD708606D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00600" y="1280809"/>
              <a:ext cx="1605536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2CB630E-D215-422F-A758-3CFE47ABFDA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274859" y="1419340"/>
              <a:ext cx="4131277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F13541D-D65F-4B8D-849B-92D3C7A44C5D}"/>
              </a:ext>
            </a:extLst>
          </p:cNvPr>
          <p:cNvSpPr txBox="1"/>
          <p:nvPr/>
        </p:nvSpPr>
        <p:spPr>
          <a:xfrm>
            <a:off x="706514" y="3352800"/>
            <a:ext cx="54656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5388"/>
                </a:solidFill>
                <a:latin typeface="+mn-lt"/>
              </a:rPr>
              <a:t>Containerboard Throughput Process on 282 D/C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B0716C-551F-42AC-9A58-8F01C58E9FAE}"/>
              </a:ext>
            </a:extLst>
          </p:cNvPr>
          <p:cNvCxnSpPr/>
          <p:nvPr/>
        </p:nvCxnSpPr>
        <p:spPr>
          <a:xfrm>
            <a:off x="706514" y="4572000"/>
            <a:ext cx="449579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672A23D-9250-464A-A5EB-D4970CADD78E}"/>
              </a:ext>
            </a:extLst>
          </p:cNvPr>
          <p:cNvSpPr txBox="1"/>
          <p:nvPr/>
        </p:nvSpPr>
        <p:spPr>
          <a:xfrm>
            <a:off x="748778" y="4867871"/>
            <a:ext cx="44957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HN" sz="3200" b="1" dirty="0">
                <a:solidFill>
                  <a:srgbClr val="005388"/>
                </a:solidFill>
                <a:latin typeface="+mn-lt"/>
              </a:rPr>
              <a:t>Max Ermler</a:t>
            </a:r>
            <a:endParaRPr lang="en-US" sz="3200" b="1" dirty="0">
              <a:solidFill>
                <a:srgbClr val="005388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7636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32FC6B3-B7C1-466B-A6F4-82461D344DA3}"/>
              </a:ext>
            </a:extLst>
          </p:cNvPr>
          <p:cNvSpPr/>
          <p:nvPr/>
        </p:nvSpPr>
        <p:spPr bwMode="auto">
          <a:xfrm>
            <a:off x="609599" y="3352800"/>
            <a:ext cx="2763188" cy="2266302"/>
          </a:xfrm>
          <a:prstGeom prst="rect">
            <a:avLst/>
          </a:prstGeom>
          <a:solidFill>
            <a:srgbClr val="3CAEA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F272AF-9382-46FA-A868-33217E3F7E1A}"/>
              </a:ext>
            </a:extLst>
          </p:cNvPr>
          <p:cNvSpPr/>
          <p:nvPr/>
        </p:nvSpPr>
        <p:spPr bwMode="auto">
          <a:xfrm>
            <a:off x="3520190" y="3352800"/>
            <a:ext cx="8062210" cy="2266302"/>
          </a:xfrm>
          <a:prstGeom prst="rect">
            <a:avLst/>
          </a:prstGeom>
          <a:noFill/>
          <a:ln w="12700" cap="flat" cmpd="sng" algn="ctr">
            <a:solidFill>
              <a:srgbClr val="3CAEA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1E6325-27C4-462E-A86A-59931A256328}"/>
              </a:ext>
            </a:extLst>
          </p:cNvPr>
          <p:cNvSpPr/>
          <p:nvPr/>
        </p:nvSpPr>
        <p:spPr bwMode="auto">
          <a:xfrm>
            <a:off x="609599" y="934098"/>
            <a:ext cx="2763188" cy="2266302"/>
          </a:xfrm>
          <a:prstGeom prst="rect">
            <a:avLst/>
          </a:prstGeom>
          <a:solidFill>
            <a:srgbClr val="0E5D9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CBCBD1-BFDC-451C-B4BB-AA53BC37D695}"/>
              </a:ext>
            </a:extLst>
          </p:cNvPr>
          <p:cNvSpPr/>
          <p:nvPr/>
        </p:nvSpPr>
        <p:spPr bwMode="auto">
          <a:xfrm>
            <a:off x="3520190" y="934098"/>
            <a:ext cx="8062210" cy="2266302"/>
          </a:xfrm>
          <a:prstGeom prst="rect">
            <a:avLst/>
          </a:prstGeom>
          <a:noFill/>
          <a:ln w="12700" cap="flat" cmpd="sng" algn="ctr">
            <a:solidFill>
              <a:srgbClr val="0E5D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6F764EEA-DE20-407A-BCF7-FD0DEADF8F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Project Goal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A3894A7D-3F6E-4224-AAC1-186045338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26DD10BC-5907-4307-B5A8-087ADCC59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AF8E2DDA-CDBD-475A-A9BF-B3E808CF7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925" y="1110272"/>
            <a:ext cx="1322479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Arial Narrow" panose="020B0606020202030204" pitchFamily="34" charset="0"/>
              </a:rPr>
              <a:t>Objective</a:t>
            </a:r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D9AF6F70-F2C3-4474-BCBA-6475873E5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2" y="3600304"/>
            <a:ext cx="1179811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Arial Narrow" panose="020B0606020202030204" pitchFamily="34" charset="0"/>
              </a:rPr>
              <a:t>Benefits</a:t>
            </a:r>
          </a:p>
        </p:txBody>
      </p:sp>
      <p:sp>
        <p:nvSpPr>
          <p:cNvPr id="9223" name="Rectangle 9">
            <a:extLst>
              <a:ext uri="{FF2B5EF4-FFF2-40B4-BE49-F238E27FC236}">
                <a16:creationId xmlns:a16="http://schemas.microsoft.com/office/drawing/2014/main" id="{788F25DB-443C-4E87-B184-E0648CFC1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1371600"/>
            <a:ext cx="5822950" cy="1474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225425" indent="-2254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50000"/>
              </a:spcBef>
              <a:buClr>
                <a:srgbClr val="0E5D90"/>
              </a:buClr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Decrease order lead time on 282 D/C</a:t>
            </a:r>
          </a:p>
          <a:p>
            <a:pPr eaLnBrk="1" fontAlgn="ctr" hangingPunct="1">
              <a:lnSpc>
                <a:spcPct val="100000"/>
              </a:lnSpc>
              <a:spcBef>
                <a:spcPct val="50000"/>
              </a:spcBef>
              <a:buClr>
                <a:srgbClr val="0E5D90"/>
              </a:buClr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Increase Throughput on the 282 D/C in terms of MSF/Machine </a:t>
            </a:r>
            <a:r>
              <a:rPr lang="en-US" altLang="en-US" sz="1800" b="1" dirty="0" err="1">
                <a:latin typeface="Arial" panose="020B0604020202020204" pitchFamily="34" charset="0"/>
              </a:rPr>
              <a:t>Hr</a:t>
            </a:r>
            <a:endParaRPr lang="en-US" altLang="en-US" sz="1800" b="1" dirty="0">
              <a:latin typeface="Arial" panose="020B0604020202020204" pitchFamily="34" charset="0"/>
            </a:endParaRPr>
          </a:p>
          <a:p>
            <a:pPr eaLnBrk="1" fontAlgn="ctr" hangingPunct="1">
              <a:lnSpc>
                <a:spcPct val="100000"/>
              </a:lnSpc>
              <a:spcBef>
                <a:spcPct val="50000"/>
              </a:spcBef>
              <a:buClr>
                <a:srgbClr val="0E5D90"/>
              </a:buClr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Increase machine consistency</a:t>
            </a:r>
          </a:p>
        </p:txBody>
      </p:sp>
      <p:sp>
        <p:nvSpPr>
          <p:cNvPr id="9224" name="Rectangle 10">
            <a:extLst>
              <a:ext uri="{FF2B5EF4-FFF2-40B4-BE49-F238E27FC236}">
                <a16:creationId xmlns:a16="http://schemas.microsoft.com/office/drawing/2014/main" id="{D9B9F76E-1B7A-4603-ADDA-AA9881BA9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5862" y="4181475"/>
            <a:ext cx="5799138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Arial Narrow" panose="020B0606020202030204" pitchFamily="34" charset="0"/>
              </a:rPr>
              <a:t>This project resulted in a contribution of </a:t>
            </a:r>
            <a:r>
              <a:rPr lang="en-US" sz="1800" b="1" dirty="0"/>
              <a:t>$863,700</a:t>
            </a:r>
            <a:endParaRPr lang="en-US" altLang="en-US" sz="1800" b="1" dirty="0">
              <a:latin typeface="Arial Narrow" panose="020B0606020202030204" pitchFamily="34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39EAC63-C970-4936-AB60-A790E935C1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6610" y="1627040"/>
            <a:ext cx="1279337" cy="127933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9043173-046B-4DD6-9B8F-67B9779D985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36521" y="4222519"/>
            <a:ext cx="952052" cy="953916"/>
          </a:xfrm>
          <a:prstGeom prst="rect">
            <a:avLst/>
          </a:prstGeom>
        </p:spPr>
      </p:pic>
      <p:graphicFrame>
        <p:nvGraphicFramePr>
          <p:cNvPr id="21" name="Table 11">
            <a:extLst>
              <a:ext uri="{FF2B5EF4-FFF2-40B4-BE49-F238E27FC236}">
                <a16:creationId xmlns:a16="http://schemas.microsoft.com/office/drawing/2014/main" id="{67BB1F71-8016-4A0B-AF0E-B293A1F75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678009"/>
              </p:ext>
            </p:extLst>
          </p:nvPr>
        </p:nvGraphicFramePr>
        <p:xfrm>
          <a:off x="10591800" y="441081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B2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5454457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4FB390-8887-45F5-8A40-52F2E6FEAA92}"/>
              </a:ext>
            </a:extLst>
          </p:cNvPr>
          <p:cNvSpPr/>
          <p:nvPr/>
        </p:nvSpPr>
        <p:spPr bwMode="auto">
          <a:xfrm>
            <a:off x="609599" y="934098"/>
            <a:ext cx="2763188" cy="1518060"/>
          </a:xfrm>
          <a:prstGeom prst="rect">
            <a:avLst/>
          </a:prstGeom>
          <a:solidFill>
            <a:srgbClr val="0E5D9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F4CC2B-52E8-4C29-8E66-E907F97405FF}"/>
              </a:ext>
            </a:extLst>
          </p:cNvPr>
          <p:cNvSpPr/>
          <p:nvPr/>
        </p:nvSpPr>
        <p:spPr bwMode="auto">
          <a:xfrm>
            <a:off x="609599" y="2514600"/>
            <a:ext cx="2763188" cy="1979908"/>
          </a:xfrm>
          <a:prstGeom prst="rect">
            <a:avLst/>
          </a:prstGeom>
          <a:solidFill>
            <a:srgbClr val="3CAEA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9D2E02-4ABF-452B-B6F6-A88078209E3B}"/>
              </a:ext>
            </a:extLst>
          </p:cNvPr>
          <p:cNvSpPr/>
          <p:nvPr/>
        </p:nvSpPr>
        <p:spPr bwMode="auto">
          <a:xfrm>
            <a:off x="609599" y="4543146"/>
            <a:ext cx="2763188" cy="1615827"/>
          </a:xfrm>
          <a:prstGeom prst="rect">
            <a:avLst/>
          </a:prstGeom>
          <a:solidFill>
            <a:srgbClr val="FF505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2146" name="Rectangle 2">
            <a:extLst>
              <a:ext uri="{FF2B5EF4-FFF2-40B4-BE49-F238E27FC236}">
                <a16:creationId xmlns:a16="http://schemas.microsoft.com/office/drawing/2014/main" id="{B4C286A3-7493-4750-8D75-FCE854A214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Six Sigma Team Members</a:t>
            </a:r>
          </a:p>
        </p:txBody>
      </p:sp>
      <p:sp>
        <p:nvSpPr>
          <p:cNvPr id="262147" name="Text Box 3">
            <a:extLst>
              <a:ext uri="{FF2B5EF4-FFF2-40B4-BE49-F238E27FC236}">
                <a16:creationId xmlns:a16="http://schemas.microsoft.com/office/drawing/2014/main" id="{F61F5075-A40E-42D6-BE1F-70D78A6F5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514600"/>
            <a:ext cx="3543300" cy="16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US" b="1" dirty="0">
                <a:latin typeface="+mn-lt"/>
              </a:rPr>
              <a:t>Green Belt or Black Belt</a:t>
            </a: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US" b="1" dirty="0">
                <a:latin typeface="+mn-lt"/>
              </a:rPr>
              <a:t>Mr. Max Ermler</a:t>
            </a: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US" b="1" dirty="0">
                <a:latin typeface="+mn-lt"/>
              </a:rPr>
              <a:t>Mr. Henry Velasquez</a:t>
            </a: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US" b="1" dirty="0">
                <a:latin typeface="+mn-lt"/>
              </a:rPr>
              <a:t>Mr. Abe </a:t>
            </a:r>
            <a:r>
              <a:rPr lang="en-US" altLang="en-US" b="1" dirty="0" err="1">
                <a:latin typeface="+mn-lt"/>
              </a:rPr>
              <a:t>Shakara</a:t>
            </a:r>
            <a:endParaRPr lang="en-US" altLang="en-US" b="1" dirty="0">
              <a:latin typeface="+mn-lt"/>
            </a:endParaRPr>
          </a:p>
        </p:txBody>
      </p:sp>
      <p:sp>
        <p:nvSpPr>
          <p:cNvPr id="262149" name="Text Box 5">
            <a:extLst>
              <a:ext uri="{FF2B5EF4-FFF2-40B4-BE49-F238E27FC236}">
                <a16:creationId xmlns:a16="http://schemas.microsoft.com/office/drawing/2014/main" id="{E6EC2F4F-98A9-478E-B991-D6CD9B019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447800"/>
            <a:ext cx="6019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US" b="1" dirty="0">
                <a:latin typeface="+mn-lt"/>
              </a:rPr>
              <a:t>	Area Operations Manager - Randy Burns</a:t>
            </a:r>
          </a:p>
        </p:txBody>
      </p:sp>
      <p:sp>
        <p:nvSpPr>
          <p:cNvPr id="262150" name="Text Box 6">
            <a:extLst>
              <a:ext uri="{FF2B5EF4-FFF2-40B4-BE49-F238E27FC236}">
                <a16:creationId xmlns:a16="http://schemas.microsoft.com/office/drawing/2014/main" id="{BDFCD2B5-C2A2-4DE6-810B-78B8B389D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556502"/>
            <a:ext cx="7315200" cy="16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US" i="1" dirty="0">
                <a:latin typeface="+mn-lt"/>
              </a:rPr>
              <a:t>Production Manager – Craig Peterson</a:t>
            </a: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US" i="1" dirty="0">
                <a:latin typeface="+mn-lt"/>
              </a:rPr>
              <a:t>Superintendent – Rory Heacock</a:t>
            </a: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US" i="1" dirty="0">
                <a:latin typeface="+mn-lt"/>
              </a:rPr>
              <a:t>Shift Supervisors</a:t>
            </a: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US" i="1" dirty="0">
                <a:latin typeface="+mn-lt"/>
              </a:rPr>
              <a:t>Area Quality Manager – RJ Schirtzinger</a:t>
            </a:r>
          </a:p>
        </p:txBody>
      </p:sp>
      <p:sp>
        <p:nvSpPr>
          <p:cNvPr id="262151" name="Text Box 7">
            <a:extLst>
              <a:ext uri="{FF2B5EF4-FFF2-40B4-BE49-F238E27FC236}">
                <a16:creationId xmlns:a16="http://schemas.microsoft.com/office/drawing/2014/main" id="{232A5C5A-5BF5-4CFB-B71B-BA629A86E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9693" y="2969947"/>
            <a:ext cx="1143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US" b="1" dirty="0">
                <a:solidFill>
                  <a:schemeClr val="bg1"/>
                </a:solidFill>
                <a:latin typeface="+mn-lt"/>
              </a:rPr>
              <a:t>Team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D974EC-40D2-4447-B99B-0962C406733F}"/>
              </a:ext>
            </a:extLst>
          </p:cNvPr>
          <p:cNvSpPr/>
          <p:nvPr/>
        </p:nvSpPr>
        <p:spPr>
          <a:xfrm>
            <a:off x="695793" y="4611469"/>
            <a:ext cx="2590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bg1"/>
                </a:solidFill>
                <a:latin typeface="Arial"/>
              </a:rPr>
              <a:t>Consulting Members/Customers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F76BFB-F884-4D21-B67A-626C57761486}"/>
              </a:ext>
            </a:extLst>
          </p:cNvPr>
          <p:cNvSpPr/>
          <p:nvPr/>
        </p:nvSpPr>
        <p:spPr>
          <a:xfrm>
            <a:off x="1334603" y="1002268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chemeClr val="bg1"/>
                </a:solidFill>
                <a:latin typeface="Arial"/>
              </a:rPr>
              <a:t>Champion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A7153DA-B4EF-41E7-8923-8929F14B79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5809" y="3348903"/>
            <a:ext cx="950769" cy="950769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B5A3B660-399A-446F-B3AC-44B88EE5FC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43325" y="5334000"/>
            <a:ext cx="695737" cy="69573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9E6F6CA-DF64-44E7-AA6C-ADF4E6C06EF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44501" y="1634507"/>
            <a:ext cx="693385" cy="69338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4CFF65D-78EC-457E-BC38-1C24A2116A66}"/>
              </a:ext>
            </a:extLst>
          </p:cNvPr>
          <p:cNvSpPr/>
          <p:nvPr/>
        </p:nvSpPr>
        <p:spPr bwMode="auto">
          <a:xfrm>
            <a:off x="3520190" y="934098"/>
            <a:ext cx="8062210" cy="1518060"/>
          </a:xfrm>
          <a:prstGeom prst="rect">
            <a:avLst/>
          </a:prstGeom>
          <a:noFill/>
          <a:ln w="12700" cap="flat" cmpd="sng" algn="ctr">
            <a:solidFill>
              <a:srgbClr val="0E5D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C98D0D-D116-4E2B-8FDE-0E48B00F053D}"/>
              </a:ext>
            </a:extLst>
          </p:cNvPr>
          <p:cNvSpPr/>
          <p:nvPr/>
        </p:nvSpPr>
        <p:spPr bwMode="auto">
          <a:xfrm>
            <a:off x="3520190" y="2514600"/>
            <a:ext cx="8062210" cy="1979908"/>
          </a:xfrm>
          <a:prstGeom prst="rect">
            <a:avLst/>
          </a:prstGeom>
          <a:noFill/>
          <a:ln w="12700" cap="flat" cmpd="sng" algn="ctr">
            <a:solidFill>
              <a:srgbClr val="3CAEA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E17F675-CF6E-4581-8C97-6D10899C204D}"/>
              </a:ext>
            </a:extLst>
          </p:cNvPr>
          <p:cNvSpPr/>
          <p:nvPr/>
        </p:nvSpPr>
        <p:spPr bwMode="auto">
          <a:xfrm>
            <a:off x="3520190" y="4556502"/>
            <a:ext cx="8062210" cy="1602471"/>
          </a:xfrm>
          <a:prstGeom prst="rect">
            <a:avLst/>
          </a:prstGeom>
          <a:noFill/>
          <a:ln w="12700" cap="flat" cmpd="sng" algn="ctr">
            <a:solidFill>
              <a:srgbClr val="FF5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29" name="Table 11">
            <a:extLst>
              <a:ext uri="{FF2B5EF4-FFF2-40B4-BE49-F238E27FC236}">
                <a16:creationId xmlns:a16="http://schemas.microsoft.com/office/drawing/2014/main" id="{745E18E5-14B7-43BB-8291-AC49C64FE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678009"/>
              </p:ext>
            </p:extLst>
          </p:nvPr>
        </p:nvGraphicFramePr>
        <p:xfrm>
          <a:off x="10591800" y="441081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B2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B3BDA-4CA3-4AA1-AAC2-52C4D9C79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83807"/>
            <a:ext cx="10972800" cy="563562"/>
          </a:xfrm>
        </p:spPr>
        <p:txBody>
          <a:bodyPr/>
          <a:lstStyle/>
          <a:p>
            <a:r>
              <a:rPr lang="es-HN" dirty="0"/>
              <a:t>Project </a:t>
            </a:r>
            <a:r>
              <a:rPr lang="en-US" dirty="0"/>
              <a:t>Charter</a:t>
            </a:r>
          </a:p>
        </p:txBody>
      </p:sp>
      <p:graphicFrame>
        <p:nvGraphicFramePr>
          <p:cNvPr id="5" name="Table 11">
            <a:extLst>
              <a:ext uri="{FF2B5EF4-FFF2-40B4-BE49-F238E27FC236}">
                <a16:creationId xmlns:a16="http://schemas.microsoft.com/office/drawing/2014/main" id="{DCD2948C-BEE7-468A-8136-8F12B8010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678009"/>
              </p:ext>
            </p:extLst>
          </p:nvPr>
        </p:nvGraphicFramePr>
        <p:xfrm>
          <a:off x="10591800" y="441081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B2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DD9B274-50E9-7404-97AC-B7E6A862C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759719"/>
              </p:ext>
            </p:extLst>
          </p:nvPr>
        </p:nvGraphicFramePr>
        <p:xfrm>
          <a:off x="2247899" y="532886"/>
          <a:ext cx="7696200" cy="6151144"/>
        </p:xfrm>
        <a:graphic>
          <a:graphicData uri="http://schemas.openxmlformats.org/drawingml/2006/table">
            <a:tbl>
              <a:tblPr/>
              <a:tblGrid>
                <a:gridCol w="1880569">
                  <a:extLst>
                    <a:ext uri="{9D8B030D-6E8A-4147-A177-3AD203B41FA5}">
                      <a16:colId xmlns:a16="http://schemas.microsoft.com/office/drawing/2014/main" val="3616914482"/>
                    </a:ext>
                  </a:extLst>
                </a:gridCol>
                <a:gridCol w="1641422">
                  <a:extLst>
                    <a:ext uri="{9D8B030D-6E8A-4147-A177-3AD203B41FA5}">
                      <a16:colId xmlns:a16="http://schemas.microsoft.com/office/drawing/2014/main" val="3699971957"/>
                    </a:ext>
                  </a:extLst>
                </a:gridCol>
                <a:gridCol w="1250089">
                  <a:extLst>
                    <a:ext uri="{9D8B030D-6E8A-4147-A177-3AD203B41FA5}">
                      <a16:colId xmlns:a16="http://schemas.microsoft.com/office/drawing/2014/main" val="4271835092"/>
                    </a:ext>
                  </a:extLst>
                </a:gridCol>
                <a:gridCol w="608738">
                  <a:extLst>
                    <a:ext uri="{9D8B030D-6E8A-4147-A177-3AD203B41FA5}">
                      <a16:colId xmlns:a16="http://schemas.microsoft.com/office/drawing/2014/main" val="1396167009"/>
                    </a:ext>
                  </a:extLst>
                </a:gridCol>
                <a:gridCol w="684832">
                  <a:extLst>
                    <a:ext uri="{9D8B030D-6E8A-4147-A177-3AD203B41FA5}">
                      <a16:colId xmlns:a16="http://schemas.microsoft.com/office/drawing/2014/main" val="107602092"/>
                    </a:ext>
                  </a:extLst>
                </a:gridCol>
                <a:gridCol w="815275">
                  <a:extLst>
                    <a:ext uri="{9D8B030D-6E8A-4147-A177-3AD203B41FA5}">
                      <a16:colId xmlns:a16="http://schemas.microsoft.com/office/drawing/2014/main" val="2626280966"/>
                    </a:ext>
                  </a:extLst>
                </a:gridCol>
                <a:gridCol w="815275">
                  <a:extLst>
                    <a:ext uri="{9D8B030D-6E8A-4147-A177-3AD203B41FA5}">
                      <a16:colId xmlns:a16="http://schemas.microsoft.com/office/drawing/2014/main" val="3741902905"/>
                    </a:ext>
                  </a:extLst>
                </a:gridCol>
              </a:tblGrid>
              <a:tr h="339280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5387"/>
                          </a:solidFill>
                          <a:effectLst/>
                          <a:latin typeface="Arial" panose="020B0604020202020204" pitchFamily="34" charset="0"/>
                        </a:rPr>
                        <a:t>Six Sigma: Proposed Project Template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053139"/>
                  </a:ext>
                </a:extLst>
              </a:tr>
              <a:tr h="2985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Product/Process Impacted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AE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  <a:t>Containerboard Throughput Process on 282 D/C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Business Unit and Location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AE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nl-NL" sz="700" b="0" i="0" u="none" strike="noStrike">
                          <a:effectLst/>
                          <a:latin typeface="Arial" panose="020B0604020202020204" pitchFamily="34" charset="0"/>
                        </a:rPr>
                        <a:t>282 Goepfert 3-color Die Cutter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868082"/>
                  </a:ext>
                </a:extLst>
              </a:tr>
              <a:tr h="2290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Project Candidate Submitted By: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AE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  <a:t>Maximillian Ermler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Telephone Number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AE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  <a:t>(847) 579-8626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179328"/>
                  </a:ext>
                </a:extLst>
              </a:tr>
              <a:tr h="2120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Champion who reviewed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AE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  <a:t>Randy Burns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Telephone Number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AE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  <a:t>(330) 281-3506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984965"/>
                  </a:ext>
                </a:extLst>
              </a:tr>
              <a:tr h="22053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Start Date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AE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  <a:t>Jan-23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Target Completion Date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AE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  <a:t>Jul-23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779733"/>
                  </a:ext>
                </a:extLst>
              </a:tr>
              <a:tr h="2205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Element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8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Team Charter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8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298071"/>
                  </a:ext>
                </a:extLst>
              </a:tr>
              <a:tr h="3562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5387"/>
                          </a:solidFill>
                          <a:effectLst/>
                          <a:latin typeface="Arial" panose="020B0604020202020204" pitchFamily="34" charset="0"/>
                        </a:rPr>
                        <a:t>1.  Process/Product: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effectLst/>
                          <a:latin typeface="Arial" panose="020B0604020202020204" pitchFamily="34" charset="0"/>
                        </a:rPr>
                        <a:t>The process in which opportunity exists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5C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  <a:t>Containerboard order fullfillment process on the 282 D/C (G3)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520824"/>
                  </a:ext>
                </a:extLst>
              </a:tr>
              <a:tr h="5089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5387"/>
                          </a:solidFill>
                          <a:effectLst/>
                          <a:latin typeface="Arial" panose="020B0604020202020204" pitchFamily="34" charset="0"/>
                        </a:rPr>
                        <a:t>2.  Project Description: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effectLst/>
                          <a:latin typeface="Arial" panose="020B0604020202020204" pitchFamily="34" charset="0"/>
                        </a:rPr>
                        <a:t>Describe the project's purpose and scope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5C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effectLst/>
                          <a:latin typeface="Arial" panose="020B0604020202020204" pitchFamily="34" charset="0"/>
                        </a:rPr>
                        <a:t>This project aims to increase the </a:t>
                      </a:r>
                      <a:r>
                        <a:rPr lang="en-US" sz="700" b="0" i="0" u="none" strike="noStrike" dirty="0" err="1">
                          <a:effectLst/>
                          <a:latin typeface="Arial" panose="020B0604020202020204" pitchFamily="34" charset="0"/>
                        </a:rPr>
                        <a:t>msf</a:t>
                      </a:r>
                      <a:r>
                        <a:rPr lang="en-US" sz="700" b="0" i="0" u="none" strike="noStrike" dirty="0">
                          <a:effectLst/>
                          <a:latin typeface="Arial" panose="020B0604020202020204" pitchFamily="34" charset="0"/>
                        </a:rPr>
                        <a:t>/machine </a:t>
                      </a:r>
                      <a:r>
                        <a:rPr lang="en-US" sz="700" b="0" i="0" u="none" strike="noStrike" dirty="0" err="1">
                          <a:effectLst/>
                          <a:latin typeface="Arial" panose="020B0604020202020204" pitchFamily="34" charset="0"/>
                        </a:rPr>
                        <a:t>hr</a:t>
                      </a:r>
                      <a:r>
                        <a:rPr lang="en-US" sz="700" b="0" i="0" u="none" strike="noStrike" dirty="0">
                          <a:effectLst/>
                          <a:latin typeface="Arial" panose="020B0604020202020204" pitchFamily="34" charset="0"/>
                        </a:rPr>
                        <a:t> by 40 %. In 2022, the </a:t>
                      </a:r>
                      <a:r>
                        <a:rPr lang="en-US" sz="700" b="0" i="0" u="none" strike="noStrike" dirty="0" err="1">
                          <a:effectLst/>
                          <a:latin typeface="Arial" panose="020B0604020202020204" pitchFamily="34" charset="0"/>
                        </a:rPr>
                        <a:t>msf</a:t>
                      </a:r>
                      <a:r>
                        <a:rPr lang="en-US" sz="700" b="0" i="0" u="none" strike="noStrike" dirty="0">
                          <a:effectLst/>
                          <a:latin typeface="Arial" panose="020B0604020202020204" pitchFamily="34" charset="0"/>
                        </a:rPr>
                        <a:t>/machine </a:t>
                      </a:r>
                      <a:r>
                        <a:rPr lang="en-US" sz="700" b="0" i="0" u="none" strike="noStrike" dirty="0" err="1">
                          <a:effectLst/>
                          <a:latin typeface="Arial" panose="020B0604020202020204" pitchFamily="34" charset="0"/>
                        </a:rPr>
                        <a:t>hr</a:t>
                      </a:r>
                      <a:r>
                        <a:rPr lang="en-US" sz="700" b="0" i="0" u="none" strike="noStrike" dirty="0">
                          <a:effectLst/>
                          <a:latin typeface="Arial" panose="020B0604020202020204" pitchFamily="34" charset="0"/>
                        </a:rPr>
                        <a:t> averaged 21.73, which is below the target of 30.42.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652635"/>
                  </a:ext>
                </a:extLst>
              </a:tr>
              <a:tr h="156069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5387"/>
                          </a:solidFill>
                          <a:effectLst/>
                          <a:latin typeface="Arial" panose="020B0604020202020204" pitchFamily="34" charset="0"/>
                        </a:rPr>
                        <a:t>3.  Objectives: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effectLst/>
                          <a:latin typeface="Arial" panose="020B0604020202020204" pitchFamily="34" charset="0"/>
                        </a:rPr>
                        <a:t>What improvement is targeted and what will be the impact?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6D55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Metrics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Baseline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Goal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923986"/>
                  </a:ext>
                </a:extLst>
              </a:tr>
              <a:tr h="2985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Throughput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  <a:t>21.73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  <a:t>30.42 (40%)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  <a:t>MSF/Macine Hr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483055"/>
                  </a:ext>
                </a:extLst>
              </a:tr>
              <a:tr h="169641">
                <a:tc rowSpan="6"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5387"/>
                          </a:solidFill>
                          <a:effectLst/>
                          <a:latin typeface="Arial" panose="020B0604020202020204" pitchFamily="34" charset="0"/>
                        </a:rPr>
                        <a:t>4.  Business results: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D55C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205527"/>
                  </a:ext>
                </a:extLst>
              </a:tr>
              <a:tr h="1560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D55C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Annual Savings from Six Sigma Project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436657"/>
                  </a:ext>
                </a:extLst>
              </a:tr>
              <a:tr h="2120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D55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effectLst/>
                          <a:latin typeface="Arial" panose="020B0604020202020204" pitchFamily="34" charset="0"/>
                        </a:rPr>
                        <a:t>Estimate: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effectLst/>
                          <a:latin typeface="Arial" panose="020B0604020202020204" pitchFamily="34" charset="0"/>
                        </a:rPr>
                        <a:t>Savings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0444706"/>
                  </a:ext>
                </a:extLst>
              </a:tr>
              <a:tr h="1560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D55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effectLst/>
                          <a:latin typeface="Arial" panose="020B0604020202020204" pitchFamily="34" charset="0"/>
                        </a:rPr>
                        <a:t>Estimated savings (3 months worth)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  <a:t>$386,200.00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726844"/>
                  </a:ext>
                </a:extLst>
              </a:tr>
              <a:tr h="1560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D55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effectLst/>
                          <a:latin typeface="Arial" panose="020B0604020202020204" pitchFamily="34" charset="0"/>
                        </a:rPr>
                        <a:t>Estimated savings (6 months worth)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  <a:t>$772,400.00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036786"/>
                  </a:ext>
                </a:extLst>
              </a:tr>
              <a:tr h="1560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5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effectLst/>
                          <a:latin typeface="Arial" panose="020B0604020202020204" pitchFamily="34" charset="0"/>
                        </a:rPr>
                        <a:t>Annual Savings of Project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  <a:t>$1,545,000.00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91763"/>
                  </a:ext>
                </a:extLst>
              </a:tr>
              <a:tr h="95676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5387"/>
                          </a:solidFill>
                          <a:effectLst/>
                          <a:latin typeface="Arial" panose="020B0604020202020204" pitchFamily="34" charset="0"/>
                        </a:rPr>
                        <a:t>Payback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effectLst/>
                          <a:latin typeface="Arial" panose="020B0604020202020204" pitchFamily="34" charset="0"/>
                        </a:rPr>
                        <a:t>Projected payback in months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5C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  <a:t>Average MSF/Machine hour in 2022 was 21.73 and had approximatley 5924 machine hours in 2022. If throughput is increased by 40%, the new msf/machine hr will be 30.42. </a:t>
                      </a:r>
                      <a:b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  <a:t>Assuming similar machine hours in 2023, and that the difference in average msf will be 8.69, there will be an increase of 51491 MSF in 2023. The contribution $/MSF is 30. Therefore, 30$/msf * 51491 msf = $1,545,000 for the year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833661"/>
                  </a:ext>
                </a:extLst>
              </a:tr>
              <a:tr h="644632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5387"/>
                          </a:solidFill>
                          <a:effectLst/>
                          <a:latin typeface="Arial" panose="020B0604020202020204" pitchFamily="34" charset="0"/>
                        </a:rPr>
                        <a:t>5.  Benefit to External Customers: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effectLst/>
                          <a:latin typeface="Arial" panose="020B0604020202020204" pitchFamily="34" charset="0"/>
                        </a:rPr>
                        <a:t>Who are the final customers, what benefit will they see, and what are their most critical requirements?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5C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  <a:t>Decreased order lead time (customer)</a:t>
                      </a:r>
                      <a:b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  <a:t>Increased throughput (plant)</a:t>
                      </a:r>
                      <a:b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  <a:t>Increased machine consistancy (operator)</a:t>
                      </a:r>
                      <a:b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700" b="0" i="0" u="none" strike="noStrike">
                          <a:effectLst/>
                          <a:latin typeface="Arial" panose="020B0604020202020204" pitchFamily="34" charset="0"/>
                        </a:rPr>
                        <a:t>Better instructions for crew (crew)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605757"/>
                  </a:ext>
                </a:extLst>
              </a:tr>
              <a:tr h="7040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5387"/>
                          </a:solidFill>
                          <a:effectLst/>
                          <a:latin typeface="Arial" panose="020B0604020202020204" pitchFamily="34" charset="0"/>
                        </a:rPr>
                        <a:t>6.  Proposed Team Members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effectLst/>
                          <a:latin typeface="Arial" panose="020B0604020202020204" pitchFamily="34" charset="0"/>
                        </a:rPr>
                        <a:t>Who are the full time team members and any expert consultants?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5C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effectLst/>
                          <a:latin typeface="Arial" panose="020B0604020202020204" pitchFamily="34" charset="0"/>
                        </a:rPr>
                        <a:t>Full time: POE (myself), two area engineers, 1st shift supervisor, Plant Superintendent, operations manager</a:t>
                      </a:r>
                      <a:br>
                        <a:rPr lang="en-US" sz="700" b="0" i="0" u="none" strike="noStrike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700" b="0" i="0" u="none" strike="noStrike" dirty="0">
                          <a:effectLst/>
                          <a:latin typeface="Arial" panose="020B0604020202020204" pitchFamily="34" charset="0"/>
                        </a:rPr>
                        <a:t>Experts: Randy Burns, Dustin Haas, RJ Schirtzinger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509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0109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>
            <a:extLst>
              <a:ext uri="{FF2B5EF4-FFF2-40B4-BE49-F238E27FC236}">
                <a16:creationId xmlns:a16="http://schemas.microsoft.com/office/drawing/2014/main" id="{4C2ED354-E338-401A-B360-C69E5CCEFD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218136"/>
            <a:ext cx="4495800" cy="563562"/>
          </a:xfrm>
          <a:solidFill>
            <a:schemeClr val="bg1"/>
          </a:solidFill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Baseline Data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98480E-D7BC-430B-BC2A-522FCEBD313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D0E1218-8D5F-4485-B8F6-8B4AB54E1EF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11268" name="Picture 4" descr="C:\Users\Svetlana\Desktop\untitled.png">
            <a:extLst>
              <a:ext uri="{FF2B5EF4-FFF2-40B4-BE49-F238E27FC236}">
                <a16:creationId xmlns:a16="http://schemas.microsoft.com/office/drawing/2014/main" id="{C8421CDC-25D7-4C04-9FEF-9EB3F116D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18990" y="-1"/>
            <a:ext cx="5273010" cy="6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5302697-9AC9-457A-ACF6-B5998EA98F57}"/>
              </a:ext>
            </a:extLst>
          </p:cNvPr>
          <p:cNvSpPr/>
          <p:nvPr/>
        </p:nvSpPr>
        <p:spPr bwMode="auto">
          <a:xfrm>
            <a:off x="7315199" y="0"/>
            <a:ext cx="4870515" cy="6895475"/>
          </a:xfrm>
          <a:prstGeom prst="rect">
            <a:avLst/>
          </a:prstGeom>
          <a:solidFill>
            <a:srgbClr val="0E5D90">
              <a:alpha val="60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B0C55AE-C195-4C75-93D7-4069326ED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678009"/>
              </p:ext>
            </p:extLst>
          </p:nvPr>
        </p:nvGraphicFramePr>
        <p:xfrm>
          <a:off x="10591800" y="441081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B2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222DCD8-BE51-081D-BE17-10F0C99EEFD6}"/>
              </a:ext>
            </a:extLst>
          </p:cNvPr>
          <p:cNvSpPr txBox="1"/>
          <p:nvPr/>
        </p:nvSpPr>
        <p:spPr>
          <a:xfrm>
            <a:off x="228600" y="1447800"/>
            <a:ext cx="6477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charset="0"/>
              </a:rPr>
              <a:t>T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he </a:t>
            </a: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Goepfert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282 D/C averaged 21.73 </a:t>
            </a: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msf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/machine </a:t>
            </a: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hr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in 2023 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charset="0"/>
              </a:rPr>
              <a:t>Goal is to increase throughput by 40%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26DCFB3-140A-133D-8652-3735BAD19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88204"/>
            <a:ext cx="10972800" cy="4197096"/>
          </a:xfrm>
          <a:prstGeom prst="rect">
            <a:avLst/>
          </a:prstGeom>
          <a:noFill/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1812AD46-1C69-5867-1383-DE32E32E3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0"/>
            <a:ext cx="10972800" cy="11430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E5D90"/>
                </a:solidFill>
              </a:rPr>
              <a:t>High Level Process Map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554656-9A10-5236-877F-AB4D0C0D8BC5}"/>
              </a:ext>
            </a:extLst>
          </p:cNvPr>
          <p:cNvGrpSpPr/>
          <p:nvPr/>
        </p:nvGrpSpPr>
        <p:grpSpPr>
          <a:xfrm>
            <a:off x="10820400" y="152400"/>
            <a:ext cx="1059922" cy="1374340"/>
            <a:chOff x="288471" y="1327985"/>
            <a:chExt cx="3349673" cy="391073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3208510-E87B-DFD9-60A4-A480A5F20391}"/>
                </a:ext>
              </a:extLst>
            </p:cNvPr>
            <p:cNvGrpSpPr/>
            <p:nvPr/>
          </p:nvGrpSpPr>
          <p:grpSpPr>
            <a:xfrm>
              <a:off x="288471" y="1327985"/>
              <a:ext cx="3349673" cy="3884130"/>
              <a:chOff x="7208061" y="1403796"/>
              <a:chExt cx="3349673" cy="3884130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167CD1CC-BDE2-D2C1-56A3-A31D4AEF946A}"/>
                  </a:ext>
                </a:extLst>
              </p:cNvPr>
              <p:cNvSpPr/>
              <p:nvPr/>
            </p:nvSpPr>
            <p:spPr>
              <a:xfrm>
                <a:off x="8338831" y="3646381"/>
                <a:ext cx="1064902" cy="724006"/>
              </a:xfrm>
              <a:custGeom>
                <a:avLst/>
                <a:gdLst>
                  <a:gd name="connsiteX0" fmla="*/ 1110743 w 1110743"/>
                  <a:gd name="connsiteY0" fmla="*/ 0 h 664764"/>
                  <a:gd name="connsiteX1" fmla="*/ 0 w 1110743"/>
                  <a:gd name="connsiteY1" fmla="*/ 19635 h 664764"/>
                  <a:gd name="connsiteX2" fmla="*/ 159879 w 1110743"/>
                  <a:gd name="connsiteY2" fmla="*/ 664764 h 664764"/>
                  <a:gd name="connsiteX3" fmla="*/ 939644 w 1110743"/>
                  <a:gd name="connsiteY3" fmla="*/ 661959 h 664764"/>
                  <a:gd name="connsiteX4" fmla="*/ 1110743 w 1110743"/>
                  <a:gd name="connsiteY4" fmla="*/ 0 h 664764"/>
                  <a:gd name="connsiteX0" fmla="*/ 1110743 w 1110743"/>
                  <a:gd name="connsiteY0" fmla="*/ 0 h 664764"/>
                  <a:gd name="connsiteX1" fmla="*/ 0 w 1110743"/>
                  <a:gd name="connsiteY1" fmla="*/ 19635 h 664764"/>
                  <a:gd name="connsiteX2" fmla="*/ 159879 w 1110743"/>
                  <a:gd name="connsiteY2" fmla="*/ 664764 h 664764"/>
                  <a:gd name="connsiteX3" fmla="*/ 939644 w 1110743"/>
                  <a:gd name="connsiteY3" fmla="*/ 661959 h 664764"/>
                  <a:gd name="connsiteX4" fmla="*/ 1110743 w 1110743"/>
                  <a:gd name="connsiteY4" fmla="*/ 0 h 664764"/>
                  <a:gd name="connsiteX0" fmla="*/ 1110743 w 1110743"/>
                  <a:gd name="connsiteY0" fmla="*/ 0 h 664764"/>
                  <a:gd name="connsiteX1" fmla="*/ 0 w 1110743"/>
                  <a:gd name="connsiteY1" fmla="*/ 19635 h 664764"/>
                  <a:gd name="connsiteX2" fmla="*/ 159879 w 1110743"/>
                  <a:gd name="connsiteY2" fmla="*/ 664764 h 664764"/>
                  <a:gd name="connsiteX3" fmla="*/ 939644 w 1110743"/>
                  <a:gd name="connsiteY3" fmla="*/ 661959 h 664764"/>
                  <a:gd name="connsiteX4" fmla="*/ 1110743 w 1110743"/>
                  <a:gd name="connsiteY4" fmla="*/ 0 h 664764"/>
                  <a:gd name="connsiteX0" fmla="*/ 1105134 w 1105134"/>
                  <a:gd name="connsiteY0" fmla="*/ 0 h 661959"/>
                  <a:gd name="connsiteX1" fmla="*/ 0 w 1105134"/>
                  <a:gd name="connsiteY1" fmla="*/ 16830 h 661959"/>
                  <a:gd name="connsiteX2" fmla="*/ 159879 w 1105134"/>
                  <a:gd name="connsiteY2" fmla="*/ 661959 h 661959"/>
                  <a:gd name="connsiteX3" fmla="*/ 939644 w 1105134"/>
                  <a:gd name="connsiteY3" fmla="*/ 659154 h 661959"/>
                  <a:gd name="connsiteX4" fmla="*/ 1105134 w 1105134"/>
                  <a:gd name="connsiteY4" fmla="*/ 0 h 661959"/>
                  <a:gd name="connsiteX0" fmla="*/ 1105134 w 1105134"/>
                  <a:gd name="connsiteY0" fmla="*/ 0 h 661959"/>
                  <a:gd name="connsiteX1" fmla="*/ 0 w 1105134"/>
                  <a:gd name="connsiteY1" fmla="*/ 16830 h 661959"/>
                  <a:gd name="connsiteX2" fmla="*/ 159879 w 1105134"/>
                  <a:gd name="connsiteY2" fmla="*/ 661959 h 661959"/>
                  <a:gd name="connsiteX3" fmla="*/ 939644 w 1105134"/>
                  <a:gd name="connsiteY3" fmla="*/ 659154 h 661959"/>
                  <a:gd name="connsiteX4" fmla="*/ 1105134 w 1105134"/>
                  <a:gd name="connsiteY4" fmla="*/ 0 h 661959"/>
                  <a:gd name="connsiteX0" fmla="*/ 1105134 w 1105134"/>
                  <a:gd name="connsiteY0" fmla="*/ 0 h 661959"/>
                  <a:gd name="connsiteX1" fmla="*/ 0 w 1105134"/>
                  <a:gd name="connsiteY1" fmla="*/ 16830 h 661959"/>
                  <a:gd name="connsiteX2" fmla="*/ 159879 w 1105134"/>
                  <a:gd name="connsiteY2" fmla="*/ 661959 h 661959"/>
                  <a:gd name="connsiteX3" fmla="*/ 939644 w 1105134"/>
                  <a:gd name="connsiteY3" fmla="*/ 659154 h 661959"/>
                  <a:gd name="connsiteX4" fmla="*/ 1105134 w 1105134"/>
                  <a:gd name="connsiteY4" fmla="*/ 0 h 661959"/>
                  <a:gd name="connsiteX0" fmla="*/ 1105134 w 1105134"/>
                  <a:gd name="connsiteY0" fmla="*/ 0 h 695003"/>
                  <a:gd name="connsiteX1" fmla="*/ 0 w 1105134"/>
                  <a:gd name="connsiteY1" fmla="*/ 16830 h 695003"/>
                  <a:gd name="connsiteX2" fmla="*/ 159879 w 1105134"/>
                  <a:gd name="connsiteY2" fmla="*/ 661959 h 695003"/>
                  <a:gd name="connsiteX3" fmla="*/ 939644 w 1105134"/>
                  <a:gd name="connsiteY3" fmla="*/ 659154 h 695003"/>
                  <a:gd name="connsiteX4" fmla="*/ 1105134 w 1105134"/>
                  <a:gd name="connsiteY4" fmla="*/ 0 h 695003"/>
                  <a:gd name="connsiteX0" fmla="*/ 1105134 w 1105134"/>
                  <a:gd name="connsiteY0" fmla="*/ 0 h 720536"/>
                  <a:gd name="connsiteX1" fmla="*/ 0 w 1105134"/>
                  <a:gd name="connsiteY1" fmla="*/ 16830 h 720536"/>
                  <a:gd name="connsiteX2" fmla="*/ 159879 w 1105134"/>
                  <a:gd name="connsiteY2" fmla="*/ 661959 h 720536"/>
                  <a:gd name="connsiteX3" fmla="*/ 939644 w 1105134"/>
                  <a:gd name="connsiteY3" fmla="*/ 659154 h 720536"/>
                  <a:gd name="connsiteX4" fmla="*/ 1105134 w 1105134"/>
                  <a:gd name="connsiteY4" fmla="*/ 0 h 720536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93071 h 812539"/>
                  <a:gd name="connsiteX1" fmla="*/ 873126 w 1105134"/>
                  <a:gd name="connsiteY1" fmla="*/ 595 h 812539"/>
                  <a:gd name="connsiteX2" fmla="*/ 0 w 1105134"/>
                  <a:gd name="connsiteY2" fmla="*/ 109901 h 812539"/>
                  <a:gd name="connsiteX3" fmla="*/ 159879 w 1105134"/>
                  <a:gd name="connsiteY3" fmla="*/ 755030 h 812539"/>
                  <a:gd name="connsiteX4" fmla="*/ 939644 w 1105134"/>
                  <a:gd name="connsiteY4" fmla="*/ 752225 h 812539"/>
                  <a:gd name="connsiteX5" fmla="*/ 1105134 w 1105134"/>
                  <a:gd name="connsiteY5" fmla="*/ 93071 h 812539"/>
                  <a:gd name="connsiteX0" fmla="*/ 1105134 w 1105134"/>
                  <a:gd name="connsiteY0" fmla="*/ 73501 h 792969"/>
                  <a:gd name="connsiteX1" fmla="*/ 0 w 1105134"/>
                  <a:gd name="connsiteY1" fmla="*/ 90331 h 792969"/>
                  <a:gd name="connsiteX2" fmla="*/ 159879 w 1105134"/>
                  <a:gd name="connsiteY2" fmla="*/ 735460 h 792969"/>
                  <a:gd name="connsiteX3" fmla="*/ 939644 w 1105134"/>
                  <a:gd name="connsiteY3" fmla="*/ 732655 h 792969"/>
                  <a:gd name="connsiteX4" fmla="*/ 1105134 w 1105134"/>
                  <a:gd name="connsiteY4" fmla="*/ 73501 h 792969"/>
                  <a:gd name="connsiteX0" fmla="*/ 1105134 w 1105134"/>
                  <a:gd name="connsiteY0" fmla="*/ 3499 h 722967"/>
                  <a:gd name="connsiteX1" fmla="*/ 0 w 1105134"/>
                  <a:gd name="connsiteY1" fmla="*/ 20329 h 722967"/>
                  <a:gd name="connsiteX2" fmla="*/ 159879 w 1105134"/>
                  <a:gd name="connsiteY2" fmla="*/ 665458 h 722967"/>
                  <a:gd name="connsiteX3" fmla="*/ 939644 w 1105134"/>
                  <a:gd name="connsiteY3" fmla="*/ 662653 h 722967"/>
                  <a:gd name="connsiteX4" fmla="*/ 1105134 w 1105134"/>
                  <a:gd name="connsiteY4" fmla="*/ 3499 h 722967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086975 w 1086975"/>
                  <a:gd name="connsiteY0" fmla="*/ 0 h 719468"/>
                  <a:gd name="connsiteX1" fmla="*/ 0 w 1086975"/>
                  <a:gd name="connsiteY1" fmla="*/ 16830 h 719468"/>
                  <a:gd name="connsiteX2" fmla="*/ 141720 w 1086975"/>
                  <a:gd name="connsiteY2" fmla="*/ 661959 h 719468"/>
                  <a:gd name="connsiteX3" fmla="*/ 921485 w 1086975"/>
                  <a:gd name="connsiteY3" fmla="*/ 659154 h 719468"/>
                  <a:gd name="connsiteX4" fmla="*/ 1086975 w 1086975"/>
                  <a:gd name="connsiteY4" fmla="*/ 0 h 719468"/>
                  <a:gd name="connsiteX0" fmla="*/ 1086975 w 1086975"/>
                  <a:gd name="connsiteY0" fmla="*/ 0 h 719468"/>
                  <a:gd name="connsiteX1" fmla="*/ 0 w 1086975"/>
                  <a:gd name="connsiteY1" fmla="*/ 16830 h 719468"/>
                  <a:gd name="connsiteX2" fmla="*/ 141720 w 1086975"/>
                  <a:gd name="connsiteY2" fmla="*/ 661959 h 719468"/>
                  <a:gd name="connsiteX3" fmla="*/ 921485 w 1086975"/>
                  <a:gd name="connsiteY3" fmla="*/ 659154 h 719468"/>
                  <a:gd name="connsiteX4" fmla="*/ 1086975 w 1086975"/>
                  <a:gd name="connsiteY4" fmla="*/ 0 h 719468"/>
                  <a:gd name="connsiteX0" fmla="*/ 1086975 w 1086975"/>
                  <a:gd name="connsiteY0" fmla="*/ 0 h 719468"/>
                  <a:gd name="connsiteX1" fmla="*/ 0 w 1086975"/>
                  <a:gd name="connsiteY1" fmla="*/ 16830 h 719468"/>
                  <a:gd name="connsiteX2" fmla="*/ 141720 w 1086975"/>
                  <a:gd name="connsiteY2" fmla="*/ 661959 h 719468"/>
                  <a:gd name="connsiteX3" fmla="*/ 921485 w 1086975"/>
                  <a:gd name="connsiteY3" fmla="*/ 659154 h 719468"/>
                  <a:gd name="connsiteX4" fmla="*/ 1086975 w 1086975"/>
                  <a:gd name="connsiteY4" fmla="*/ 0 h 719468"/>
                  <a:gd name="connsiteX0" fmla="*/ 1086975 w 1086975"/>
                  <a:gd name="connsiteY0" fmla="*/ 0 h 724006"/>
                  <a:gd name="connsiteX1" fmla="*/ 0 w 1086975"/>
                  <a:gd name="connsiteY1" fmla="*/ 16830 h 724006"/>
                  <a:gd name="connsiteX2" fmla="*/ 144636 w 1086975"/>
                  <a:gd name="connsiteY2" fmla="*/ 670532 h 724006"/>
                  <a:gd name="connsiteX3" fmla="*/ 921485 w 1086975"/>
                  <a:gd name="connsiteY3" fmla="*/ 659154 h 724006"/>
                  <a:gd name="connsiteX4" fmla="*/ 1086975 w 1086975"/>
                  <a:gd name="connsiteY4" fmla="*/ 0 h 72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86975" h="724006">
                    <a:moveTo>
                      <a:pt x="1086975" y="0"/>
                    </a:moveTo>
                    <a:cubicBezTo>
                      <a:pt x="653848" y="226027"/>
                      <a:pt x="258096" y="145315"/>
                      <a:pt x="0" y="16830"/>
                    </a:cubicBezTo>
                    <a:cubicBezTo>
                      <a:pt x="72927" y="243092"/>
                      <a:pt x="110977" y="480733"/>
                      <a:pt x="144636" y="670532"/>
                    </a:cubicBezTo>
                    <a:cubicBezTo>
                      <a:pt x="382240" y="748135"/>
                      <a:pt x="665924" y="738627"/>
                      <a:pt x="921485" y="659154"/>
                    </a:cubicBezTo>
                    <a:cubicBezTo>
                      <a:pt x="947664" y="469355"/>
                      <a:pt x="999088" y="217848"/>
                      <a:pt x="1086975" y="0"/>
                    </a:cubicBezTo>
                    <a:close/>
                  </a:path>
                </a:pathLst>
              </a:custGeom>
              <a:solidFill>
                <a:srgbClr val="FFFF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F87B888-1D26-301A-E42F-FF967E4954E4}"/>
                  </a:ext>
                </a:extLst>
              </p:cNvPr>
              <p:cNvSpPr/>
              <p:nvPr/>
            </p:nvSpPr>
            <p:spPr>
              <a:xfrm>
                <a:off x="8037468" y="2969679"/>
                <a:ext cx="1653457" cy="812583"/>
              </a:xfrm>
              <a:custGeom>
                <a:avLst/>
                <a:gdLst>
                  <a:gd name="connsiteX0" fmla="*/ 1110743 w 1110743"/>
                  <a:gd name="connsiteY0" fmla="*/ 0 h 664764"/>
                  <a:gd name="connsiteX1" fmla="*/ 0 w 1110743"/>
                  <a:gd name="connsiteY1" fmla="*/ 19635 h 664764"/>
                  <a:gd name="connsiteX2" fmla="*/ 159879 w 1110743"/>
                  <a:gd name="connsiteY2" fmla="*/ 664764 h 664764"/>
                  <a:gd name="connsiteX3" fmla="*/ 939644 w 1110743"/>
                  <a:gd name="connsiteY3" fmla="*/ 661959 h 664764"/>
                  <a:gd name="connsiteX4" fmla="*/ 1110743 w 1110743"/>
                  <a:gd name="connsiteY4" fmla="*/ 0 h 664764"/>
                  <a:gd name="connsiteX0" fmla="*/ 1110743 w 1110743"/>
                  <a:gd name="connsiteY0" fmla="*/ 0 h 664764"/>
                  <a:gd name="connsiteX1" fmla="*/ 0 w 1110743"/>
                  <a:gd name="connsiteY1" fmla="*/ 19635 h 664764"/>
                  <a:gd name="connsiteX2" fmla="*/ 159879 w 1110743"/>
                  <a:gd name="connsiteY2" fmla="*/ 664764 h 664764"/>
                  <a:gd name="connsiteX3" fmla="*/ 939644 w 1110743"/>
                  <a:gd name="connsiteY3" fmla="*/ 661959 h 664764"/>
                  <a:gd name="connsiteX4" fmla="*/ 1110743 w 1110743"/>
                  <a:gd name="connsiteY4" fmla="*/ 0 h 664764"/>
                  <a:gd name="connsiteX0" fmla="*/ 1110743 w 1110743"/>
                  <a:gd name="connsiteY0" fmla="*/ 0 h 664764"/>
                  <a:gd name="connsiteX1" fmla="*/ 0 w 1110743"/>
                  <a:gd name="connsiteY1" fmla="*/ 19635 h 664764"/>
                  <a:gd name="connsiteX2" fmla="*/ 159879 w 1110743"/>
                  <a:gd name="connsiteY2" fmla="*/ 664764 h 664764"/>
                  <a:gd name="connsiteX3" fmla="*/ 939644 w 1110743"/>
                  <a:gd name="connsiteY3" fmla="*/ 661959 h 664764"/>
                  <a:gd name="connsiteX4" fmla="*/ 1110743 w 1110743"/>
                  <a:gd name="connsiteY4" fmla="*/ 0 h 664764"/>
                  <a:gd name="connsiteX0" fmla="*/ 1105134 w 1105134"/>
                  <a:gd name="connsiteY0" fmla="*/ 0 h 661959"/>
                  <a:gd name="connsiteX1" fmla="*/ 0 w 1105134"/>
                  <a:gd name="connsiteY1" fmla="*/ 16830 h 661959"/>
                  <a:gd name="connsiteX2" fmla="*/ 159879 w 1105134"/>
                  <a:gd name="connsiteY2" fmla="*/ 661959 h 661959"/>
                  <a:gd name="connsiteX3" fmla="*/ 939644 w 1105134"/>
                  <a:gd name="connsiteY3" fmla="*/ 659154 h 661959"/>
                  <a:gd name="connsiteX4" fmla="*/ 1105134 w 1105134"/>
                  <a:gd name="connsiteY4" fmla="*/ 0 h 661959"/>
                  <a:gd name="connsiteX0" fmla="*/ 1105134 w 1105134"/>
                  <a:gd name="connsiteY0" fmla="*/ 0 h 661959"/>
                  <a:gd name="connsiteX1" fmla="*/ 0 w 1105134"/>
                  <a:gd name="connsiteY1" fmla="*/ 16830 h 661959"/>
                  <a:gd name="connsiteX2" fmla="*/ 159879 w 1105134"/>
                  <a:gd name="connsiteY2" fmla="*/ 661959 h 661959"/>
                  <a:gd name="connsiteX3" fmla="*/ 939644 w 1105134"/>
                  <a:gd name="connsiteY3" fmla="*/ 659154 h 661959"/>
                  <a:gd name="connsiteX4" fmla="*/ 1105134 w 1105134"/>
                  <a:gd name="connsiteY4" fmla="*/ 0 h 661959"/>
                  <a:gd name="connsiteX0" fmla="*/ 1105134 w 1105134"/>
                  <a:gd name="connsiteY0" fmla="*/ 0 h 661959"/>
                  <a:gd name="connsiteX1" fmla="*/ 0 w 1105134"/>
                  <a:gd name="connsiteY1" fmla="*/ 16830 h 661959"/>
                  <a:gd name="connsiteX2" fmla="*/ 159879 w 1105134"/>
                  <a:gd name="connsiteY2" fmla="*/ 661959 h 661959"/>
                  <a:gd name="connsiteX3" fmla="*/ 939644 w 1105134"/>
                  <a:gd name="connsiteY3" fmla="*/ 659154 h 661959"/>
                  <a:gd name="connsiteX4" fmla="*/ 1105134 w 1105134"/>
                  <a:gd name="connsiteY4" fmla="*/ 0 h 661959"/>
                  <a:gd name="connsiteX0" fmla="*/ 1105134 w 1105134"/>
                  <a:gd name="connsiteY0" fmla="*/ 0 h 695003"/>
                  <a:gd name="connsiteX1" fmla="*/ 0 w 1105134"/>
                  <a:gd name="connsiteY1" fmla="*/ 16830 h 695003"/>
                  <a:gd name="connsiteX2" fmla="*/ 159879 w 1105134"/>
                  <a:gd name="connsiteY2" fmla="*/ 661959 h 695003"/>
                  <a:gd name="connsiteX3" fmla="*/ 939644 w 1105134"/>
                  <a:gd name="connsiteY3" fmla="*/ 659154 h 695003"/>
                  <a:gd name="connsiteX4" fmla="*/ 1105134 w 1105134"/>
                  <a:gd name="connsiteY4" fmla="*/ 0 h 695003"/>
                  <a:gd name="connsiteX0" fmla="*/ 1105134 w 1105134"/>
                  <a:gd name="connsiteY0" fmla="*/ 0 h 720536"/>
                  <a:gd name="connsiteX1" fmla="*/ 0 w 1105134"/>
                  <a:gd name="connsiteY1" fmla="*/ 16830 h 720536"/>
                  <a:gd name="connsiteX2" fmla="*/ 159879 w 1105134"/>
                  <a:gd name="connsiteY2" fmla="*/ 661959 h 720536"/>
                  <a:gd name="connsiteX3" fmla="*/ 939644 w 1105134"/>
                  <a:gd name="connsiteY3" fmla="*/ 659154 h 720536"/>
                  <a:gd name="connsiteX4" fmla="*/ 1105134 w 1105134"/>
                  <a:gd name="connsiteY4" fmla="*/ 0 h 720536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93071 h 812539"/>
                  <a:gd name="connsiteX1" fmla="*/ 873126 w 1105134"/>
                  <a:gd name="connsiteY1" fmla="*/ 595 h 812539"/>
                  <a:gd name="connsiteX2" fmla="*/ 0 w 1105134"/>
                  <a:gd name="connsiteY2" fmla="*/ 109901 h 812539"/>
                  <a:gd name="connsiteX3" fmla="*/ 159879 w 1105134"/>
                  <a:gd name="connsiteY3" fmla="*/ 755030 h 812539"/>
                  <a:gd name="connsiteX4" fmla="*/ 939644 w 1105134"/>
                  <a:gd name="connsiteY4" fmla="*/ 752225 h 812539"/>
                  <a:gd name="connsiteX5" fmla="*/ 1105134 w 1105134"/>
                  <a:gd name="connsiteY5" fmla="*/ 93071 h 812539"/>
                  <a:gd name="connsiteX0" fmla="*/ 1105134 w 1105134"/>
                  <a:gd name="connsiteY0" fmla="*/ 73501 h 792969"/>
                  <a:gd name="connsiteX1" fmla="*/ 0 w 1105134"/>
                  <a:gd name="connsiteY1" fmla="*/ 90331 h 792969"/>
                  <a:gd name="connsiteX2" fmla="*/ 159879 w 1105134"/>
                  <a:gd name="connsiteY2" fmla="*/ 735460 h 792969"/>
                  <a:gd name="connsiteX3" fmla="*/ 939644 w 1105134"/>
                  <a:gd name="connsiteY3" fmla="*/ 732655 h 792969"/>
                  <a:gd name="connsiteX4" fmla="*/ 1105134 w 1105134"/>
                  <a:gd name="connsiteY4" fmla="*/ 73501 h 792969"/>
                  <a:gd name="connsiteX0" fmla="*/ 1105134 w 1105134"/>
                  <a:gd name="connsiteY0" fmla="*/ 3499 h 722967"/>
                  <a:gd name="connsiteX1" fmla="*/ 0 w 1105134"/>
                  <a:gd name="connsiteY1" fmla="*/ 20329 h 722967"/>
                  <a:gd name="connsiteX2" fmla="*/ 159879 w 1105134"/>
                  <a:gd name="connsiteY2" fmla="*/ 665458 h 722967"/>
                  <a:gd name="connsiteX3" fmla="*/ 939644 w 1105134"/>
                  <a:gd name="connsiteY3" fmla="*/ 662653 h 722967"/>
                  <a:gd name="connsiteX4" fmla="*/ 1105134 w 1105134"/>
                  <a:gd name="connsiteY4" fmla="*/ 3499 h 722967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5050"/>
                  <a:gd name="connsiteX1" fmla="*/ 0 w 1105134"/>
                  <a:gd name="connsiteY1" fmla="*/ 16830 h 715050"/>
                  <a:gd name="connsiteX2" fmla="*/ 159879 w 1105134"/>
                  <a:gd name="connsiteY2" fmla="*/ 661959 h 715050"/>
                  <a:gd name="connsiteX3" fmla="*/ 969700 w 1105134"/>
                  <a:gd name="connsiteY3" fmla="*/ 649727 h 715050"/>
                  <a:gd name="connsiteX4" fmla="*/ 1105134 w 1105134"/>
                  <a:gd name="connsiteY4" fmla="*/ 0 h 715050"/>
                  <a:gd name="connsiteX0" fmla="*/ 1179117 w 1179117"/>
                  <a:gd name="connsiteY0" fmla="*/ 0 h 746473"/>
                  <a:gd name="connsiteX1" fmla="*/ 0 w 1179117"/>
                  <a:gd name="connsiteY1" fmla="*/ 48253 h 746473"/>
                  <a:gd name="connsiteX2" fmla="*/ 159879 w 1179117"/>
                  <a:gd name="connsiteY2" fmla="*/ 693382 h 746473"/>
                  <a:gd name="connsiteX3" fmla="*/ 969700 w 1179117"/>
                  <a:gd name="connsiteY3" fmla="*/ 681150 h 746473"/>
                  <a:gd name="connsiteX4" fmla="*/ 1179117 w 1179117"/>
                  <a:gd name="connsiteY4" fmla="*/ 0 h 746473"/>
                  <a:gd name="connsiteX0" fmla="*/ 1179117 w 1179117"/>
                  <a:gd name="connsiteY0" fmla="*/ 0 h 746473"/>
                  <a:gd name="connsiteX1" fmla="*/ 0 w 1179117"/>
                  <a:gd name="connsiteY1" fmla="*/ 48253 h 746473"/>
                  <a:gd name="connsiteX2" fmla="*/ 159879 w 1179117"/>
                  <a:gd name="connsiteY2" fmla="*/ 693382 h 746473"/>
                  <a:gd name="connsiteX3" fmla="*/ 969700 w 1179117"/>
                  <a:gd name="connsiteY3" fmla="*/ 681150 h 746473"/>
                  <a:gd name="connsiteX4" fmla="*/ 1179117 w 1179117"/>
                  <a:gd name="connsiteY4" fmla="*/ 0 h 746473"/>
                  <a:gd name="connsiteX0" fmla="*/ 1179117 w 1179117"/>
                  <a:gd name="connsiteY0" fmla="*/ 0 h 746473"/>
                  <a:gd name="connsiteX1" fmla="*/ 0 w 1179117"/>
                  <a:gd name="connsiteY1" fmla="*/ 48253 h 746473"/>
                  <a:gd name="connsiteX2" fmla="*/ 159879 w 1179117"/>
                  <a:gd name="connsiteY2" fmla="*/ 693382 h 746473"/>
                  <a:gd name="connsiteX3" fmla="*/ 969700 w 1179117"/>
                  <a:gd name="connsiteY3" fmla="*/ 681150 h 746473"/>
                  <a:gd name="connsiteX4" fmla="*/ 1179117 w 1179117"/>
                  <a:gd name="connsiteY4" fmla="*/ 0 h 746473"/>
                  <a:gd name="connsiteX0" fmla="*/ 1179117 w 1179117"/>
                  <a:gd name="connsiteY0" fmla="*/ 0 h 748235"/>
                  <a:gd name="connsiteX1" fmla="*/ 0 w 1179117"/>
                  <a:gd name="connsiteY1" fmla="*/ 48253 h 748235"/>
                  <a:gd name="connsiteX2" fmla="*/ 155256 w 1179117"/>
                  <a:gd name="connsiteY2" fmla="*/ 696524 h 748235"/>
                  <a:gd name="connsiteX3" fmla="*/ 969700 w 1179117"/>
                  <a:gd name="connsiteY3" fmla="*/ 681150 h 748235"/>
                  <a:gd name="connsiteX4" fmla="*/ 1179117 w 1179117"/>
                  <a:gd name="connsiteY4" fmla="*/ 0 h 748235"/>
                  <a:gd name="connsiteX0" fmla="*/ 1179117 w 1179117"/>
                  <a:gd name="connsiteY0" fmla="*/ 0 h 789646"/>
                  <a:gd name="connsiteX1" fmla="*/ 0 w 1179117"/>
                  <a:gd name="connsiteY1" fmla="*/ 48253 h 789646"/>
                  <a:gd name="connsiteX2" fmla="*/ 155256 w 1179117"/>
                  <a:gd name="connsiteY2" fmla="*/ 696524 h 789646"/>
                  <a:gd name="connsiteX3" fmla="*/ 969700 w 1179117"/>
                  <a:gd name="connsiteY3" fmla="*/ 681150 h 789646"/>
                  <a:gd name="connsiteX4" fmla="*/ 1179117 w 1179117"/>
                  <a:gd name="connsiteY4" fmla="*/ 0 h 789646"/>
                  <a:gd name="connsiteX0" fmla="*/ 1179117 w 1179117"/>
                  <a:gd name="connsiteY0" fmla="*/ 0 h 818776"/>
                  <a:gd name="connsiteX1" fmla="*/ 0 w 1179117"/>
                  <a:gd name="connsiteY1" fmla="*/ 48253 h 818776"/>
                  <a:gd name="connsiteX2" fmla="*/ 155256 w 1179117"/>
                  <a:gd name="connsiteY2" fmla="*/ 696524 h 818776"/>
                  <a:gd name="connsiteX3" fmla="*/ 969700 w 1179117"/>
                  <a:gd name="connsiteY3" fmla="*/ 681150 h 818776"/>
                  <a:gd name="connsiteX4" fmla="*/ 1179117 w 1179117"/>
                  <a:gd name="connsiteY4" fmla="*/ 0 h 818776"/>
                  <a:gd name="connsiteX0" fmla="*/ 1179117 w 1179117"/>
                  <a:gd name="connsiteY0" fmla="*/ 0 h 823748"/>
                  <a:gd name="connsiteX1" fmla="*/ 0 w 1179117"/>
                  <a:gd name="connsiteY1" fmla="*/ 48253 h 823748"/>
                  <a:gd name="connsiteX2" fmla="*/ 155256 w 1179117"/>
                  <a:gd name="connsiteY2" fmla="*/ 696524 h 823748"/>
                  <a:gd name="connsiteX3" fmla="*/ 969700 w 1179117"/>
                  <a:gd name="connsiteY3" fmla="*/ 681150 h 823748"/>
                  <a:gd name="connsiteX4" fmla="*/ 1179117 w 1179117"/>
                  <a:gd name="connsiteY4" fmla="*/ 0 h 823748"/>
                  <a:gd name="connsiteX0" fmla="*/ 1179117 w 1179117"/>
                  <a:gd name="connsiteY0" fmla="*/ 0 h 823748"/>
                  <a:gd name="connsiteX1" fmla="*/ 0 w 1179117"/>
                  <a:gd name="connsiteY1" fmla="*/ 48253 h 823748"/>
                  <a:gd name="connsiteX2" fmla="*/ 155256 w 1179117"/>
                  <a:gd name="connsiteY2" fmla="*/ 696524 h 823748"/>
                  <a:gd name="connsiteX3" fmla="*/ 969700 w 1179117"/>
                  <a:gd name="connsiteY3" fmla="*/ 681150 h 823748"/>
                  <a:gd name="connsiteX4" fmla="*/ 1179117 w 1179117"/>
                  <a:gd name="connsiteY4" fmla="*/ 0 h 823748"/>
                  <a:gd name="connsiteX0" fmla="*/ 1239229 w 1239229"/>
                  <a:gd name="connsiteY0" fmla="*/ 5166 h 828914"/>
                  <a:gd name="connsiteX1" fmla="*/ 0 w 1239229"/>
                  <a:gd name="connsiteY1" fmla="*/ 0 h 828914"/>
                  <a:gd name="connsiteX2" fmla="*/ 215368 w 1239229"/>
                  <a:gd name="connsiteY2" fmla="*/ 701690 h 828914"/>
                  <a:gd name="connsiteX3" fmla="*/ 1029812 w 1239229"/>
                  <a:gd name="connsiteY3" fmla="*/ 686316 h 828914"/>
                  <a:gd name="connsiteX4" fmla="*/ 1239229 w 1239229"/>
                  <a:gd name="connsiteY4" fmla="*/ 5166 h 828914"/>
                  <a:gd name="connsiteX0" fmla="*/ 1239229 w 1239229"/>
                  <a:gd name="connsiteY0" fmla="*/ 5166 h 828914"/>
                  <a:gd name="connsiteX1" fmla="*/ 0 w 1239229"/>
                  <a:gd name="connsiteY1" fmla="*/ 0 h 828914"/>
                  <a:gd name="connsiteX2" fmla="*/ 215368 w 1239229"/>
                  <a:gd name="connsiteY2" fmla="*/ 701690 h 828914"/>
                  <a:gd name="connsiteX3" fmla="*/ 1029812 w 1239229"/>
                  <a:gd name="connsiteY3" fmla="*/ 686316 h 828914"/>
                  <a:gd name="connsiteX4" fmla="*/ 1239229 w 1239229"/>
                  <a:gd name="connsiteY4" fmla="*/ 5166 h 828914"/>
                  <a:gd name="connsiteX0" fmla="*/ 1239229 w 1239229"/>
                  <a:gd name="connsiteY0" fmla="*/ 5166 h 828914"/>
                  <a:gd name="connsiteX1" fmla="*/ 0 w 1239229"/>
                  <a:gd name="connsiteY1" fmla="*/ 0 h 828914"/>
                  <a:gd name="connsiteX2" fmla="*/ 213056 w 1239229"/>
                  <a:gd name="connsiteY2" fmla="*/ 701690 h 828914"/>
                  <a:gd name="connsiteX3" fmla="*/ 1029812 w 1239229"/>
                  <a:gd name="connsiteY3" fmla="*/ 686316 h 828914"/>
                  <a:gd name="connsiteX4" fmla="*/ 1239229 w 1239229"/>
                  <a:gd name="connsiteY4" fmla="*/ 5166 h 828914"/>
                  <a:gd name="connsiteX0" fmla="*/ 1239229 w 1239229"/>
                  <a:gd name="connsiteY0" fmla="*/ 5166 h 828914"/>
                  <a:gd name="connsiteX1" fmla="*/ 0 w 1239229"/>
                  <a:gd name="connsiteY1" fmla="*/ 0 h 828914"/>
                  <a:gd name="connsiteX2" fmla="*/ 213056 w 1239229"/>
                  <a:gd name="connsiteY2" fmla="*/ 701690 h 828914"/>
                  <a:gd name="connsiteX3" fmla="*/ 1029812 w 1239229"/>
                  <a:gd name="connsiteY3" fmla="*/ 686316 h 828914"/>
                  <a:gd name="connsiteX4" fmla="*/ 1239229 w 1239229"/>
                  <a:gd name="connsiteY4" fmla="*/ 5166 h 828914"/>
                  <a:gd name="connsiteX0" fmla="*/ 1239229 w 1239229"/>
                  <a:gd name="connsiteY0" fmla="*/ 5166 h 828914"/>
                  <a:gd name="connsiteX1" fmla="*/ 0 w 1239229"/>
                  <a:gd name="connsiteY1" fmla="*/ 0 h 828914"/>
                  <a:gd name="connsiteX2" fmla="*/ 213056 w 1239229"/>
                  <a:gd name="connsiteY2" fmla="*/ 701690 h 828914"/>
                  <a:gd name="connsiteX3" fmla="*/ 1029812 w 1239229"/>
                  <a:gd name="connsiteY3" fmla="*/ 686316 h 828914"/>
                  <a:gd name="connsiteX4" fmla="*/ 1239229 w 1239229"/>
                  <a:gd name="connsiteY4" fmla="*/ 5166 h 828914"/>
                  <a:gd name="connsiteX0" fmla="*/ 1251243 w 1251243"/>
                  <a:gd name="connsiteY0" fmla="*/ 0 h 823748"/>
                  <a:gd name="connsiteX1" fmla="*/ 0 w 1251243"/>
                  <a:gd name="connsiteY1" fmla="*/ 1365 h 823748"/>
                  <a:gd name="connsiteX2" fmla="*/ 225070 w 1251243"/>
                  <a:gd name="connsiteY2" fmla="*/ 696524 h 823748"/>
                  <a:gd name="connsiteX3" fmla="*/ 1041826 w 1251243"/>
                  <a:gd name="connsiteY3" fmla="*/ 681150 h 823748"/>
                  <a:gd name="connsiteX4" fmla="*/ 1251243 w 1251243"/>
                  <a:gd name="connsiteY4" fmla="*/ 0 h 823748"/>
                  <a:gd name="connsiteX0" fmla="*/ 1251243 w 1251243"/>
                  <a:gd name="connsiteY0" fmla="*/ 0 h 825363"/>
                  <a:gd name="connsiteX1" fmla="*/ 0 w 1251243"/>
                  <a:gd name="connsiteY1" fmla="*/ 1365 h 825363"/>
                  <a:gd name="connsiteX2" fmla="*/ 225070 w 1251243"/>
                  <a:gd name="connsiteY2" fmla="*/ 696524 h 825363"/>
                  <a:gd name="connsiteX3" fmla="*/ 1031093 w 1251243"/>
                  <a:gd name="connsiteY3" fmla="*/ 684708 h 825363"/>
                  <a:gd name="connsiteX4" fmla="*/ 1251243 w 1251243"/>
                  <a:gd name="connsiteY4" fmla="*/ 0 h 8253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1243" h="825363">
                    <a:moveTo>
                      <a:pt x="1251243" y="0"/>
                    </a:moveTo>
                    <a:cubicBezTo>
                      <a:pt x="818116" y="226027"/>
                      <a:pt x="297494" y="199872"/>
                      <a:pt x="0" y="1365"/>
                    </a:cubicBezTo>
                    <a:cubicBezTo>
                      <a:pt x="77551" y="208773"/>
                      <a:pt x="163667" y="475302"/>
                      <a:pt x="225070" y="696524"/>
                    </a:cubicBezTo>
                    <a:cubicBezTo>
                      <a:pt x="461003" y="884106"/>
                      <a:pt x="821306" y="855307"/>
                      <a:pt x="1031093" y="684708"/>
                    </a:cubicBezTo>
                    <a:cubicBezTo>
                      <a:pt x="1068832" y="504335"/>
                      <a:pt x="1167981" y="217848"/>
                      <a:pt x="1251243" y="0"/>
                    </a:cubicBezTo>
                    <a:close/>
                  </a:path>
                </a:pathLst>
              </a:custGeom>
              <a:solidFill>
                <a:srgbClr val="FF5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9E33D96-49DE-5848-9796-E5E6E5D01AC0}"/>
                  </a:ext>
                </a:extLst>
              </p:cNvPr>
              <p:cNvSpPr/>
              <p:nvPr/>
            </p:nvSpPr>
            <p:spPr>
              <a:xfrm>
                <a:off x="7239665" y="2003763"/>
                <a:ext cx="3269028" cy="1126608"/>
              </a:xfrm>
              <a:custGeom>
                <a:avLst/>
                <a:gdLst>
                  <a:gd name="connsiteX0" fmla="*/ 1110743 w 1110743"/>
                  <a:gd name="connsiteY0" fmla="*/ 0 h 664764"/>
                  <a:gd name="connsiteX1" fmla="*/ 0 w 1110743"/>
                  <a:gd name="connsiteY1" fmla="*/ 19635 h 664764"/>
                  <a:gd name="connsiteX2" fmla="*/ 159879 w 1110743"/>
                  <a:gd name="connsiteY2" fmla="*/ 664764 h 664764"/>
                  <a:gd name="connsiteX3" fmla="*/ 939644 w 1110743"/>
                  <a:gd name="connsiteY3" fmla="*/ 661959 h 664764"/>
                  <a:gd name="connsiteX4" fmla="*/ 1110743 w 1110743"/>
                  <a:gd name="connsiteY4" fmla="*/ 0 h 664764"/>
                  <a:gd name="connsiteX0" fmla="*/ 1110743 w 1110743"/>
                  <a:gd name="connsiteY0" fmla="*/ 0 h 664764"/>
                  <a:gd name="connsiteX1" fmla="*/ 0 w 1110743"/>
                  <a:gd name="connsiteY1" fmla="*/ 19635 h 664764"/>
                  <a:gd name="connsiteX2" fmla="*/ 159879 w 1110743"/>
                  <a:gd name="connsiteY2" fmla="*/ 664764 h 664764"/>
                  <a:gd name="connsiteX3" fmla="*/ 939644 w 1110743"/>
                  <a:gd name="connsiteY3" fmla="*/ 661959 h 664764"/>
                  <a:gd name="connsiteX4" fmla="*/ 1110743 w 1110743"/>
                  <a:gd name="connsiteY4" fmla="*/ 0 h 664764"/>
                  <a:gd name="connsiteX0" fmla="*/ 1110743 w 1110743"/>
                  <a:gd name="connsiteY0" fmla="*/ 0 h 664764"/>
                  <a:gd name="connsiteX1" fmla="*/ 0 w 1110743"/>
                  <a:gd name="connsiteY1" fmla="*/ 19635 h 664764"/>
                  <a:gd name="connsiteX2" fmla="*/ 159879 w 1110743"/>
                  <a:gd name="connsiteY2" fmla="*/ 664764 h 664764"/>
                  <a:gd name="connsiteX3" fmla="*/ 939644 w 1110743"/>
                  <a:gd name="connsiteY3" fmla="*/ 661959 h 664764"/>
                  <a:gd name="connsiteX4" fmla="*/ 1110743 w 1110743"/>
                  <a:gd name="connsiteY4" fmla="*/ 0 h 664764"/>
                  <a:gd name="connsiteX0" fmla="*/ 1105134 w 1105134"/>
                  <a:gd name="connsiteY0" fmla="*/ 0 h 661959"/>
                  <a:gd name="connsiteX1" fmla="*/ 0 w 1105134"/>
                  <a:gd name="connsiteY1" fmla="*/ 16830 h 661959"/>
                  <a:gd name="connsiteX2" fmla="*/ 159879 w 1105134"/>
                  <a:gd name="connsiteY2" fmla="*/ 661959 h 661959"/>
                  <a:gd name="connsiteX3" fmla="*/ 939644 w 1105134"/>
                  <a:gd name="connsiteY3" fmla="*/ 659154 h 661959"/>
                  <a:gd name="connsiteX4" fmla="*/ 1105134 w 1105134"/>
                  <a:gd name="connsiteY4" fmla="*/ 0 h 661959"/>
                  <a:gd name="connsiteX0" fmla="*/ 1105134 w 1105134"/>
                  <a:gd name="connsiteY0" fmla="*/ 0 h 661959"/>
                  <a:gd name="connsiteX1" fmla="*/ 0 w 1105134"/>
                  <a:gd name="connsiteY1" fmla="*/ 16830 h 661959"/>
                  <a:gd name="connsiteX2" fmla="*/ 159879 w 1105134"/>
                  <a:gd name="connsiteY2" fmla="*/ 661959 h 661959"/>
                  <a:gd name="connsiteX3" fmla="*/ 939644 w 1105134"/>
                  <a:gd name="connsiteY3" fmla="*/ 659154 h 661959"/>
                  <a:gd name="connsiteX4" fmla="*/ 1105134 w 1105134"/>
                  <a:gd name="connsiteY4" fmla="*/ 0 h 661959"/>
                  <a:gd name="connsiteX0" fmla="*/ 1105134 w 1105134"/>
                  <a:gd name="connsiteY0" fmla="*/ 0 h 661959"/>
                  <a:gd name="connsiteX1" fmla="*/ 0 w 1105134"/>
                  <a:gd name="connsiteY1" fmla="*/ 16830 h 661959"/>
                  <a:gd name="connsiteX2" fmla="*/ 159879 w 1105134"/>
                  <a:gd name="connsiteY2" fmla="*/ 661959 h 661959"/>
                  <a:gd name="connsiteX3" fmla="*/ 939644 w 1105134"/>
                  <a:gd name="connsiteY3" fmla="*/ 659154 h 661959"/>
                  <a:gd name="connsiteX4" fmla="*/ 1105134 w 1105134"/>
                  <a:gd name="connsiteY4" fmla="*/ 0 h 661959"/>
                  <a:gd name="connsiteX0" fmla="*/ 1105134 w 1105134"/>
                  <a:gd name="connsiteY0" fmla="*/ 0 h 695003"/>
                  <a:gd name="connsiteX1" fmla="*/ 0 w 1105134"/>
                  <a:gd name="connsiteY1" fmla="*/ 16830 h 695003"/>
                  <a:gd name="connsiteX2" fmla="*/ 159879 w 1105134"/>
                  <a:gd name="connsiteY2" fmla="*/ 661959 h 695003"/>
                  <a:gd name="connsiteX3" fmla="*/ 939644 w 1105134"/>
                  <a:gd name="connsiteY3" fmla="*/ 659154 h 695003"/>
                  <a:gd name="connsiteX4" fmla="*/ 1105134 w 1105134"/>
                  <a:gd name="connsiteY4" fmla="*/ 0 h 695003"/>
                  <a:gd name="connsiteX0" fmla="*/ 1105134 w 1105134"/>
                  <a:gd name="connsiteY0" fmla="*/ 0 h 720536"/>
                  <a:gd name="connsiteX1" fmla="*/ 0 w 1105134"/>
                  <a:gd name="connsiteY1" fmla="*/ 16830 h 720536"/>
                  <a:gd name="connsiteX2" fmla="*/ 159879 w 1105134"/>
                  <a:gd name="connsiteY2" fmla="*/ 661959 h 720536"/>
                  <a:gd name="connsiteX3" fmla="*/ 939644 w 1105134"/>
                  <a:gd name="connsiteY3" fmla="*/ 659154 h 720536"/>
                  <a:gd name="connsiteX4" fmla="*/ 1105134 w 1105134"/>
                  <a:gd name="connsiteY4" fmla="*/ 0 h 720536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93071 h 812539"/>
                  <a:gd name="connsiteX1" fmla="*/ 873126 w 1105134"/>
                  <a:gd name="connsiteY1" fmla="*/ 595 h 812539"/>
                  <a:gd name="connsiteX2" fmla="*/ 0 w 1105134"/>
                  <a:gd name="connsiteY2" fmla="*/ 109901 h 812539"/>
                  <a:gd name="connsiteX3" fmla="*/ 159879 w 1105134"/>
                  <a:gd name="connsiteY3" fmla="*/ 755030 h 812539"/>
                  <a:gd name="connsiteX4" fmla="*/ 939644 w 1105134"/>
                  <a:gd name="connsiteY4" fmla="*/ 752225 h 812539"/>
                  <a:gd name="connsiteX5" fmla="*/ 1105134 w 1105134"/>
                  <a:gd name="connsiteY5" fmla="*/ 93071 h 812539"/>
                  <a:gd name="connsiteX0" fmla="*/ 1105134 w 1105134"/>
                  <a:gd name="connsiteY0" fmla="*/ 73501 h 792969"/>
                  <a:gd name="connsiteX1" fmla="*/ 0 w 1105134"/>
                  <a:gd name="connsiteY1" fmla="*/ 90331 h 792969"/>
                  <a:gd name="connsiteX2" fmla="*/ 159879 w 1105134"/>
                  <a:gd name="connsiteY2" fmla="*/ 735460 h 792969"/>
                  <a:gd name="connsiteX3" fmla="*/ 939644 w 1105134"/>
                  <a:gd name="connsiteY3" fmla="*/ 732655 h 792969"/>
                  <a:gd name="connsiteX4" fmla="*/ 1105134 w 1105134"/>
                  <a:gd name="connsiteY4" fmla="*/ 73501 h 792969"/>
                  <a:gd name="connsiteX0" fmla="*/ 1105134 w 1105134"/>
                  <a:gd name="connsiteY0" fmla="*/ 3499 h 722967"/>
                  <a:gd name="connsiteX1" fmla="*/ 0 w 1105134"/>
                  <a:gd name="connsiteY1" fmla="*/ 20329 h 722967"/>
                  <a:gd name="connsiteX2" fmla="*/ 159879 w 1105134"/>
                  <a:gd name="connsiteY2" fmla="*/ 665458 h 722967"/>
                  <a:gd name="connsiteX3" fmla="*/ 939644 w 1105134"/>
                  <a:gd name="connsiteY3" fmla="*/ 662653 h 722967"/>
                  <a:gd name="connsiteX4" fmla="*/ 1105134 w 1105134"/>
                  <a:gd name="connsiteY4" fmla="*/ 3499 h 722967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9468"/>
                  <a:gd name="connsiteX1" fmla="*/ 0 w 1105134"/>
                  <a:gd name="connsiteY1" fmla="*/ 16830 h 719468"/>
                  <a:gd name="connsiteX2" fmla="*/ 159879 w 1105134"/>
                  <a:gd name="connsiteY2" fmla="*/ 661959 h 719468"/>
                  <a:gd name="connsiteX3" fmla="*/ 939644 w 1105134"/>
                  <a:gd name="connsiteY3" fmla="*/ 659154 h 719468"/>
                  <a:gd name="connsiteX4" fmla="*/ 1105134 w 1105134"/>
                  <a:gd name="connsiteY4" fmla="*/ 0 h 719468"/>
                  <a:gd name="connsiteX0" fmla="*/ 1105134 w 1105134"/>
                  <a:gd name="connsiteY0" fmla="*/ 0 h 715050"/>
                  <a:gd name="connsiteX1" fmla="*/ 0 w 1105134"/>
                  <a:gd name="connsiteY1" fmla="*/ 16830 h 715050"/>
                  <a:gd name="connsiteX2" fmla="*/ 159879 w 1105134"/>
                  <a:gd name="connsiteY2" fmla="*/ 661959 h 715050"/>
                  <a:gd name="connsiteX3" fmla="*/ 969700 w 1105134"/>
                  <a:gd name="connsiteY3" fmla="*/ 649727 h 715050"/>
                  <a:gd name="connsiteX4" fmla="*/ 1105134 w 1105134"/>
                  <a:gd name="connsiteY4" fmla="*/ 0 h 715050"/>
                  <a:gd name="connsiteX0" fmla="*/ 1179117 w 1179117"/>
                  <a:gd name="connsiteY0" fmla="*/ 0 h 746473"/>
                  <a:gd name="connsiteX1" fmla="*/ 0 w 1179117"/>
                  <a:gd name="connsiteY1" fmla="*/ 48253 h 746473"/>
                  <a:gd name="connsiteX2" fmla="*/ 159879 w 1179117"/>
                  <a:gd name="connsiteY2" fmla="*/ 693382 h 746473"/>
                  <a:gd name="connsiteX3" fmla="*/ 969700 w 1179117"/>
                  <a:gd name="connsiteY3" fmla="*/ 681150 h 746473"/>
                  <a:gd name="connsiteX4" fmla="*/ 1179117 w 1179117"/>
                  <a:gd name="connsiteY4" fmla="*/ 0 h 746473"/>
                  <a:gd name="connsiteX0" fmla="*/ 1179117 w 1179117"/>
                  <a:gd name="connsiteY0" fmla="*/ 0 h 746473"/>
                  <a:gd name="connsiteX1" fmla="*/ 0 w 1179117"/>
                  <a:gd name="connsiteY1" fmla="*/ 48253 h 746473"/>
                  <a:gd name="connsiteX2" fmla="*/ 159879 w 1179117"/>
                  <a:gd name="connsiteY2" fmla="*/ 693382 h 746473"/>
                  <a:gd name="connsiteX3" fmla="*/ 969700 w 1179117"/>
                  <a:gd name="connsiteY3" fmla="*/ 681150 h 746473"/>
                  <a:gd name="connsiteX4" fmla="*/ 1179117 w 1179117"/>
                  <a:gd name="connsiteY4" fmla="*/ 0 h 746473"/>
                  <a:gd name="connsiteX0" fmla="*/ 1179117 w 1179117"/>
                  <a:gd name="connsiteY0" fmla="*/ 0 h 746473"/>
                  <a:gd name="connsiteX1" fmla="*/ 0 w 1179117"/>
                  <a:gd name="connsiteY1" fmla="*/ 48253 h 746473"/>
                  <a:gd name="connsiteX2" fmla="*/ 159879 w 1179117"/>
                  <a:gd name="connsiteY2" fmla="*/ 693382 h 746473"/>
                  <a:gd name="connsiteX3" fmla="*/ 969700 w 1179117"/>
                  <a:gd name="connsiteY3" fmla="*/ 681150 h 746473"/>
                  <a:gd name="connsiteX4" fmla="*/ 1179117 w 1179117"/>
                  <a:gd name="connsiteY4" fmla="*/ 0 h 746473"/>
                  <a:gd name="connsiteX0" fmla="*/ 1179117 w 1179117"/>
                  <a:gd name="connsiteY0" fmla="*/ 0 h 748235"/>
                  <a:gd name="connsiteX1" fmla="*/ 0 w 1179117"/>
                  <a:gd name="connsiteY1" fmla="*/ 48253 h 748235"/>
                  <a:gd name="connsiteX2" fmla="*/ 155256 w 1179117"/>
                  <a:gd name="connsiteY2" fmla="*/ 696524 h 748235"/>
                  <a:gd name="connsiteX3" fmla="*/ 969700 w 1179117"/>
                  <a:gd name="connsiteY3" fmla="*/ 681150 h 748235"/>
                  <a:gd name="connsiteX4" fmla="*/ 1179117 w 1179117"/>
                  <a:gd name="connsiteY4" fmla="*/ 0 h 748235"/>
                  <a:gd name="connsiteX0" fmla="*/ 1179117 w 1179117"/>
                  <a:gd name="connsiteY0" fmla="*/ 0 h 789646"/>
                  <a:gd name="connsiteX1" fmla="*/ 0 w 1179117"/>
                  <a:gd name="connsiteY1" fmla="*/ 48253 h 789646"/>
                  <a:gd name="connsiteX2" fmla="*/ 155256 w 1179117"/>
                  <a:gd name="connsiteY2" fmla="*/ 696524 h 789646"/>
                  <a:gd name="connsiteX3" fmla="*/ 969700 w 1179117"/>
                  <a:gd name="connsiteY3" fmla="*/ 681150 h 789646"/>
                  <a:gd name="connsiteX4" fmla="*/ 1179117 w 1179117"/>
                  <a:gd name="connsiteY4" fmla="*/ 0 h 789646"/>
                  <a:gd name="connsiteX0" fmla="*/ 1179117 w 1179117"/>
                  <a:gd name="connsiteY0" fmla="*/ 0 h 818776"/>
                  <a:gd name="connsiteX1" fmla="*/ 0 w 1179117"/>
                  <a:gd name="connsiteY1" fmla="*/ 48253 h 818776"/>
                  <a:gd name="connsiteX2" fmla="*/ 155256 w 1179117"/>
                  <a:gd name="connsiteY2" fmla="*/ 696524 h 818776"/>
                  <a:gd name="connsiteX3" fmla="*/ 969700 w 1179117"/>
                  <a:gd name="connsiteY3" fmla="*/ 681150 h 818776"/>
                  <a:gd name="connsiteX4" fmla="*/ 1179117 w 1179117"/>
                  <a:gd name="connsiteY4" fmla="*/ 0 h 818776"/>
                  <a:gd name="connsiteX0" fmla="*/ 1179117 w 1179117"/>
                  <a:gd name="connsiteY0" fmla="*/ 0 h 823748"/>
                  <a:gd name="connsiteX1" fmla="*/ 0 w 1179117"/>
                  <a:gd name="connsiteY1" fmla="*/ 48253 h 823748"/>
                  <a:gd name="connsiteX2" fmla="*/ 155256 w 1179117"/>
                  <a:gd name="connsiteY2" fmla="*/ 696524 h 823748"/>
                  <a:gd name="connsiteX3" fmla="*/ 969700 w 1179117"/>
                  <a:gd name="connsiteY3" fmla="*/ 681150 h 823748"/>
                  <a:gd name="connsiteX4" fmla="*/ 1179117 w 1179117"/>
                  <a:gd name="connsiteY4" fmla="*/ 0 h 823748"/>
                  <a:gd name="connsiteX0" fmla="*/ 1179117 w 1179117"/>
                  <a:gd name="connsiteY0" fmla="*/ 0 h 823748"/>
                  <a:gd name="connsiteX1" fmla="*/ 0 w 1179117"/>
                  <a:gd name="connsiteY1" fmla="*/ 48253 h 823748"/>
                  <a:gd name="connsiteX2" fmla="*/ 155256 w 1179117"/>
                  <a:gd name="connsiteY2" fmla="*/ 696524 h 823748"/>
                  <a:gd name="connsiteX3" fmla="*/ 969700 w 1179117"/>
                  <a:gd name="connsiteY3" fmla="*/ 681150 h 823748"/>
                  <a:gd name="connsiteX4" fmla="*/ 1179117 w 1179117"/>
                  <a:gd name="connsiteY4" fmla="*/ 0 h 823748"/>
                  <a:gd name="connsiteX0" fmla="*/ 1239229 w 1239229"/>
                  <a:gd name="connsiteY0" fmla="*/ 5166 h 828914"/>
                  <a:gd name="connsiteX1" fmla="*/ 0 w 1239229"/>
                  <a:gd name="connsiteY1" fmla="*/ 0 h 828914"/>
                  <a:gd name="connsiteX2" fmla="*/ 215368 w 1239229"/>
                  <a:gd name="connsiteY2" fmla="*/ 701690 h 828914"/>
                  <a:gd name="connsiteX3" fmla="*/ 1029812 w 1239229"/>
                  <a:gd name="connsiteY3" fmla="*/ 686316 h 828914"/>
                  <a:gd name="connsiteX4" fmla="*/ 1239229 w 1239229"/>
                  <a:gd name="connsiteY4" fmla="*/ 5166 h 828914"/>
                  <a:gd name="connsiteX0" fmla="*/ 1239229 w 1239229"/>
                  <a:gd name="connsiteY0" fmla="*/ 5166 h 828914"/>
                  <a:gd name="connsiteX1" fmla="*/ 0 w 1239229"/>
                  <a:gd name="connsiteY1" fmla="*/ 0 h 828914"/>
                  <a:gd name="connsiteX2" fmla="*/ 215368 w 1239229"/>
                  <a:gd name="connsiteY2" fmla="*/ 701690 h 828914"/>
                  <a:gd name="connsiteX3" fmla="*/ 1029812 w 1239229"/>
                  <a:gd name="connsiteY3" fmla="*/ 686316 h 828914"/>
                  <a:gd name="connsiteX4" fmla="*/ 1239229 w 1239229"/>
                  <a:gd name="connsiteY4" fmla="*/ 5166 h 828914"/>
                  <a:gd name="connsiteX0" fmla="*/ 1239229 w 1239229"/>
                  <a:gd name="connsiteY0" fmla="*/ 5166 h 828914"/>
                  <a:gd name="connsiteX1" fmla="*/ 0 w 1239229"/>
                  <a:gd name="connsiteY1" fmla="*/ 0 h 828914"/>
                  <a:gd name="connsiteX2" fmla="*/ 213056 w 1239229"/>
                  <a:gd name="connsiteY2" fmla="*/ 701690 h 828914"/>
                  <a:gd name="connsiteX3" fmla="*/ 1029812 w 1239229"/>
                  <a:gd name="connsiteY3" fmla="*/ 686316 h 828914"/>
                  <a:gd name="connsiteX4" fmla="*/ 1239229 w 1239229"/>
                  <a:gd name="connsiteY4" fmla="*/ 5166 h 828914"/>
                  <a:gd name="connsiteX0" fmla="*/ 1239229 w 1239229"/>
                  <a:gd name="connsiteY0" fmla="*/ 5166 h 828914"/>
                  <a:gd name="connsiteX1" fmla="*/ 0 w 1239229"/>
                  <a:gd name="connsiteY1" fmla="*/ 0 h 828914"/>
                  <a:gd name="connsiteX2" fmla="*/ 213056 w 1239229"/>
                  <a:gd name="connsiteY2" fmla="*/ 701690 h 828914"/>
                  <a:gd name="connsiteX3" fmla="*/ 1029812 w 1239229"/>
                  <a:gd name="connsiteY3" fmla="*/ 686316 h 828914"/>
                  <a:gd name="connsiteX4" fmla="*/ 1239229 w 1239229"/>
                  <a:gd name="connsiteY4" fmla="*/ 5166 h 828914"/>
                  <a:gd name="connsiteX0" fmla="*/ 1239229 w 1239229"/>
                  <a:gd name="connsiteY0" fmla="*/ 5166 h 828914"/>
                  <a:gd name="connsiteX1" fmla="*/ 0 w 1239229"/>
                  <a:gd name="connsiteY1" fmla="*/ 0 h 828914"/>
                  <a:gd name="connsiteX2" fmla="*/ 213056 w 1239229"/>
                  <a:gd name="connsiteY2" fmla="*/ 701690 h 828914"/>
                  <a:gd name="connsiteX3" fmla="*/ 1029812 w 1239229"/>
                  <a:gd name="connsiteY3" fmla="*/ 686316 h 828914"/>
                  <a:gd name="connsiteX4" fmla="*/ 1239229 w 1239229"/>
                  <a:gd name="connsiteY4" fmla="*/ 5166 h 828914"/>
                  <a:gd name="connsiteX0" fmla="*/ 1239229 w 1239229"/>
                  <a:gd name="connsiteY0" fmla="*/ 5166 h 838242"/>
                  <a:gd name="connsiteX1" fmla="*/ 0 w 1239229"/>
                  <a:gd name="connsiteY1" fmla="*/ 0 h 838242"/>
                  <a:gd name="connsiteX2" fmla="*/ 169070 w 1239229"/>
                  <a:gd name="connsiteY2" fmla="*/ 718166 h 838242"/>
                  <a:gd name="connsiteX3" fmla="*/ 1029812 w 1239229"/>
                  <a:gd name="connsiteY3" fmla="*/ 686316 h 838242"/>
                  <a:gd name="connsiteX4" fmla="*/ 1239229 w 1239229"/>
                  <a:gd name="connsiteY4" fmla="*/ 5166 h 838242"/>
                  <a:gd name="connsiteX0" fmla="*/ 1239229 w 1239229"/>
                  <a:gd name="connsiteY0" fmla="*/ 5166 h 857154"/>
                  <a:gd name="connsiteX1" fmla="*/ 0 w 1239229"/>
                  <a:gd name="connsiteY1" fmla="*/ 0 h 857154"/>
                  <a:gd name="connsiteX2" fmla="*/ 169070 w 1239229"/>
                  <a:gd name="connsiteY2" fmla="*/ 718166 h 857154"/>
                  <a:gd name="connsiteX3" fmla="*/ 1036095 w 1239229"/>
                  <a:gd name="connsiteY3" fmla="*/ 727505 h 857154"/>
                  <a:gd name="connsiteX4" fmla="*/ 1239229 w 1239229"/>
                  <a:gd name="connsiteY4" fmla="*/ 5166 h 857154"/>
                  <a:gd name="connsiteX0" fmla="*/ 1239229 w 1239229"/>
                  <a:gd name="connsiteY0" fmla="*/ 5166 h 868191"/>
                  <a:gd name="connsiteX1" fmla="*/ 0 w 1239229"/>
                  <a:gd name="connsiteY1" fmla="*/ 0 h 868191"/>
                  <a:gd name="connsiteX2" fmla="*/ 169070 w 1239229"/>
                  <a:gd name="connsiteY2" fmla="*/ 718166 h 868191"/>
                  <a:gd name="connsiteX3" fmla="*/ 1036095 w 1239229"/>
                  <a:gd name="connsiteY3" fmla="*/ 727505 h 868191"/>
                  <a:gd name="connsiteX4" fmla="*/ 1239229 w 1239229"/>
                  <a:gd name="connsiteY4" fmla="*/ 5166 h 868191"/>
                  <a:gd name="connsiteX0" fmla="*/ 1239229 w 1239229"/>
                  <a:gd name="connsiteY0" fmla="*/ 5166 h 883436"/>
                  <a:gd name="connsiteX1" fmla="*/ 0 w 1239229"/>
                  <a:gd name="connsiteY1" fmla="*/ 0 h 883436"/>
                  <a:gd name="connsiteX2" fmla="*/ 169070 w 1239229"/>
                  <a:gd name="connsiteY2" fmla="*/ 718166 h 883436"/>
                  <a:gd name="connsiteX3" fmla="*/ 1036095 w 1239229"/>
                  <a:gd name="connsiteY3" fmla="*/ 727505 h 883436"/>
                  <a:gd name="connsiteX4" fmla="*/ 1239229 w 1239229"/>
                  <a:gd name="connsiteY4" fmla="*/ 5166 h 883436"/>
                  <a:gd name="connsiteX0" fmla="*/ 1341863 w 1341863"/>
                  <a:gd name="connsiteY0" fmla="*/ 0 h 1067741"/>
                  <a:gd name="connsiteX1" fmla="*/ 0 w 1341863"/>
                  <a:gd name="connsiteY1" fmla="*/ 184305 h 1067741"/>
                  <a:gd name="connsiteX2" fmla="*/ 169070 w 1341863"/>
                  <a:gd name="connsiteY2" fmla="*/ 902471 h 1067741"/>
                  <a:gd name="connsiteX3" fmla="*/ 1036095 w 1341863"/>
                  <a:gd name="connsiteY3" fmla="*/ 911810 h 1067741"/>
                  <a:gd name="connsiteX4" fmla="*/ 1341863 w 1341863"/>
                  <a:gd name="connsiteY4" fmla="*/ 0 h 1067741"/>
                  <a:gd name="connsiteX0" fmla="*/ 1341863 w 1341863"/>
                  <a:gd name="connsiteY0" fmla="*/ 0 h 1067741"/>
                  <a:gd name="connsiteX1" fmla="*/ 0 w 1341863"/>
                  <a:gd name="connsiteY1" fmla="*/ 184305 h 1067741"/>
                  <a:gd name="connsiteX2" fmla="*/ 169070 w 1341863"/>
                  <a:gd name="connsiteY2" fmla="*/ 902471 h 1067741"/>
                  <a:gd name="connsiteX3" fmla="*/ 1036095 w 1341863"/>
                  <a:gd name="connsiteY3" fmla="*/ 911810 h 1067741"/>
                  <a:gd name="connsiteX4" fmla="*/ 1341863 w 1341863"/>
                  <a:gd name="connsiteY4" fmla="*/ 0 h 1067741"/>
                  <a:gd name="connsiteX0" fmla="*/ 1341863 w 1341863"/>
                  <a:gd name="connsiteY0" fmla="*/ 0 h 1067741"/>
                  <a:gd name="connsiteX1" fmla="*/ 0 w 1341863"/>
                  <a:gd name="connsiteY1" fmla="*/ 184305 h 1067741"/>
                  <a:gd name="connsiteX2" fmla="*/ 169070 w 1341863"/>
                  <a:gd name="connsiteY2" fmla="*/ 902471 h 1067741"/>
                  <a:gd name="connsiteX3" fmla="*/ 1036095 w 1341863"/>
                  <a:gd name="connsiteY3" fmla="*/ 911810 h 1067741"/>
                  <a:gd name="connsiteX4" fmla="*/ 1341863 w 1341863"/>
                  <a:gd name="connsiteY4" fmla="*/ 0 h 1067741"/>
                  <a:gd name="connsiteX0" fmla="*/ 1341863 w 1341863"/>
                  <a:gd name="connsiteY0" fmla="*/ 0 h 1067741"/>
                  <a:gd name="connsiteX1" fmla="*/ 0 w 1341863"/>
                  <a:gd name="connsiteY1" fmla="*/ 184305 h 1067741"/>
                  <a:gd name="connsiteX2" fmla="*/ 169070 w 1341863"/>
                  <a:gd name="connsiteY2" fmla="*/ 902471 h 1067741"/>
                  <a:gd name="connsiteX3" fmla="*/ 1036095 w 1341863"/>
                  <a:gd name="connsiteY3" fmla="*/ 911810 h 1067741"/>
                  <a:gd name="connsiteX4" fmla="*/ 1341863 w 1341863"/>
                  <a:gd name="connsiteY4" fmla="*/ 0 h 1067741"/>
                  <a:gd name="connsiteX0" fmla="*/ 1473820 w 1473820"/>
                  <a:gd name="connsiteY0" fmla="*/ 1046 h 1068787"/>
                  <a:gd name="connsiteX1" fmla="*/ 0 w 1473820"/>
                  <a:gd name="connsiteY1" fmla="*/ 0 h 1068787"/>
                  <a:gd name="connsiteX2" fmla="*/ 301027 w 1473820"/>
                  <a:gd name="connsiteY2" fmla="*/ 903517 h 1068787"/>
                  <a:gd name="connsiteX3" fmla="*/ 1168052 w 1473820"/>
                  <a:gd name="connsiteY3" fmla="*/ 912856 h 1068787"/>
                  <a:gd name="connsiteX4" fmla="*/ 1473820 w 1473820"/>
                  <a:gd name="connsiteY4" fmla="*/ 1046 h 1068787"/>
                  <a:gd name="connsiteX0" fmla="*/ 1473820 w 1473820"/>
                  <a:gd name="connsiteY0" fmla="*/ 1046 h 1068787"/>
                  <a:gd name="connsiteX1" fmla="*/ 0 w 1473820"/>
                  <a:gd name="connsiteY1" fmla="*/ 0 h 1068787"/>
                  <a:gd name="connsiteX2" fmla="*/ 301027 w 1473820"/>
                  <a:gd name="connsiteY2" fmla="*/ 903517 h 1068787"/>
                  <a:gd name="connsiteX3" fmla="*/ 1168052 w 1473820"/>
                  <a:gd name="connsiteY3" fmla="*/ 912856 h 1068787"/>
                  <a:gd name="connsiteX4" fmla="*/ 1473820 w 1473820"/>
                  <a:gd name="connsiteY4" fmla="*/ 1046 h 1068787"/>
                  <a:gd name="connsiteX0" fmla="*/ 1473820 w 1473820"/>
                  <a:gd name="connsiteY0" fmla="*/ 1046 h 1068787"/>
                  <a:gd name="connsiteX1" fmla="*/ 0 w 1473820"/>
                  <a:gd name="connsiteY1" fmla="*/ 0 h 1068787"/>
                  <a:gd name="connsiteX2" fmla="*/ 301027 w 1473820"/>
                  <a:gd name="connsiteY2" fmla="*/ 903517 h 1068787"/>
                  <a:gd name="connsiteX3" fmla="*/ 1168052 w 1473820"/>
                  <a:gd name="connsiteY3" fmla="*/ 912856 h 1068787"/>
                  <a:gd name="connsiteX4" fmla="*/ 1473820 w 1473820"/>
                  <a:gd name="connsiteY4" fmla="*/ 1046 h 1068787"/>
                  <a:gd name="connsiteX0" fmla="*/ 1473820 w 1473820"/>
                  <a:gd name="connsiteY0" fmla="*/ 1046 h 1068787"/>
                  <a:gd name="connsiteX1" fmla="*/ 0 w 1473820"/>
                  <a:gd name="connsiteY1" fmla="*/ 0 h 1068787"/>
                  <a:gd name="connsiteX2" fmla="*/ 301027 w 1473820"/>
                  <a:gd name="connsiteY2" fmla="*/ 903517 h 1068787"/>
                  <a:gd name="connsiteX3" fmla="*/ 1168052 w 1473820"/>
                  <a:gd name="connsiteY3" fmla="*/ 912856 h 1068787"/>
                  <a:gd name="connsiteX4" fmla="*/ 1473820 w 1473820"/>
                  <a:gd name="connsiteY4" fmla="*/ 1046 h 1068787"/>
                  <a:gd name="connsiteX0" fmla="*/ 1477165 w 1477165"/>
                  <a:gd name="connsiteY0" fmla="*/ 1046 h 1068787"/>
                  <a:gd name="connsiteX1" fmla="*/ 0 w 1477165"/>
                  <a:gd name="connsiteY1" fmla="*/ 0 h 1068787"/>
                  <a:gd name="connsiteX2" fmla="*/ 304372 w 1477165"/>
                  <a:gd name="connsiteY2" fmla="*/ 903517 h 1068787"/>
                  <a:gd name="connsiteX3" fmla="*/ 1171397 w 1477165"/>
                  <a:gd name="connsiteY3" fmla="*/ 912856 h 1068787"/>
                  <a:gd name="connsiteX4" fmla="*/ 1477165 w 1477165"/>
                  <a:gd name="connsiteY4" fmla="*/ 1046 h 1068787"/>
                  <a:gd name="connsiteX0" fmla="*/ 1477165 w 1477165"/>
                  <a:gd name="connsiteY0" fmla="*/ 1046 h 1068787"/>
                  <a:gd name="connsiteX1" fmla="*/ 0 w 1477165"/>
                  <a:gd name="connsiteY1" fmla="*/ 0 h 1068787"/>
                  <a:gd name="connsiteX2" fmla="*/ 304372 w 1477165"/>
                  <a:gd name="connsiteY2" fmla="*/ 903517 h 1068787"/>
                  <a:gd name="connsiteX3" fmla="*/ 1171397 w 1477165"/>
                  <a:gd name="connsiteY3" fmla="*/ 912856 h 1068787"/>
                  <a:gd name="connsiteX4" fmla="*/ 1477165 w 1477165"/>
                  <a:gd name="connsiteY4" fmla="*/ 1046 h 1068787"/>
                  <a:gd name="connsiteX0" fmla="*/ 1467129 w 1467129"/>
                  <a:gd name="connsiteY0" fmla="*/ 1046 h 1068787"/>
                  <a:gd name="connsiteX1" fmla="*/ 0 w 1467129"/>
                  <a:gd name="connsiteY1" fmla="*/ 0 h 1068787"/>
                  <a:gd name="connsiteX2" fmla="*/ 304372 w 1467129"/>
                  <a:gd name="connsiteY2" fmla="*/ 903517 h 1068787"/>
                  <a:gd name="connsiteX3" fmla="*/ 1171397 w 1467129"/>
                  <a:gd name="connsiteY3" fmla="*/ 912856 h 1068787"/>
                  <a:gd name="connsiteX4" fmla="*/ 1467129 w 1467129"/>
                  <a:gd name="connsiteY4" fmla="*/ 1046 h 1068787"/>
                  <a:gd name="connsiteX0" fmla="*/ 1467129 w 1467129"/>
                  <a:gd name="connsiteY0" fmla="*/ 1046 h 1057745"/>
                  <a:gd name="connsiteX1" fmla="*/ 0 w 1467129"/>
                  <a:gd name="connsiteY1" fmla="*/ 0 h 1057745"/>
                  <a:gd name="connsiteX2" fmla="*/ 304372 w 1467129"/>
                  <a:gd name="connsiteY2" fmla="*/ 903517 h 1057745"/>
                  <a:gd name="connsiteX3" fmla="*/ 1171397 w 1467129"/>
                  <a:gd name="connsiteY3" fmla="*/ 912856 h 1057745"/>
                  <a:gd name="connsiteX4" fmla="*/ 1467129 w 1467129"/>
                  <a:gd name="connsiteY4" fmla="*/ 1046 h 1057745"/>
                  <a:gd name="connsiteX0" fmla="*/ 1467129 w 1467129"/>
                  <a:gd name="connsiteY0" fmla="*/ 1046 h 1063830"/>
                  <a:gd name="connsiteX1" fmla="*/ 0 w 1467129"/>
                  <a:gd name="connsiteY1" fmla="*/ 0 h 1063830"/>
                  <a:gd name="connsiteX2" fmla="*/ 304372 w 1467129"/>
                  <a:gd name="connsiteY2" fmla="*/ 903517 h 1063830"/>
                  <a:gd name="connsiteX3" fmla="*/ 1171397 w 1467129"/>
                  <a:gd name="connsiteY3" fmla="*/ 912856 h 1063830"/>
                  <a:gd name="connsiteX4" fmla="*/ 1467129 w 1467129"/>
                  <a:gd name="connsiteY4" fmla="*/ 1046 h 1063830"/>
                  <a:gd name="connsiteX0" fmla="*/ 1467129 w 1467129"/>
                  <a:gd name="connsiteY0" fmla="*/ 1046 h 1063830"/>
                  <a:gd name="connsiteX1" fmla="*/ 0 w 1467129"/>
                  <a:gd name="connsiteY1" fmla="*/ 0 h 1063830"/>
                  <a:gd name="connsiteX2" fmla="*/ 299354 w 1467129"/>
                  <a:gd name="connsiteY2" fmla="*/ 903517 h 1063830"/>
                  <a:gd name="connsiteX3" fmla="*/ 1171397 w 1467129"/>
                  <a:gd name="connsiteY3" fmla="*/ 912856 h 1063830"/>
                  <a:gd name="connsiteX4" fmla="*/ 1467129 w 1467129"/>
                  <a:gd name="connsiteY4" fmla="*/ 1046 h 1063830"/>
                  <a:gd name="connsiteX0" fmla="*/ 1516248 w 1516248"/>
                  <a:gd name="connsiteY0" fmla="*/ 0 h 1082102"/>
                  <a:gd name="connsiteX1" fmla="*/ 0 w 1516248"/>
                  <a:gd name="connsiteY1" fmla="*/ 18272 h 1082102"/>
                  <a:gd name="connsiteX2" fmla="*/ 299354 w 1516248"/>
                  <a:gd name="connsiteY2" fmla="*/ 921789 h 1082102"/>
                  <a:gd name="connsiteX3" fmla="*/ 1171397 w 1516248"/>
                  <a:gd name="connsiteY3" fmla="*/ 931128 h 1082102"/>
                  <a:gd name="connsiteX4" fmla="*/ 1516248 w 1516248"/>
                  <a:gd name="connsiteY4" fmla="*/ 0 h 1082102"/>
                  <a:gd name="connsiteX0" fmla="*/ 1571916 w 1571916"/>
                  <a:gd name="connsiteY0" fmla="*/ 1047 h 1083149"/>
                  <a:gd name="connsiteX1" fmla="*/ 0 w 1571916"/>
                  <a:gd name="connsiteY1" fmla="*/ 0 h 1083149"/>
                  <a:gd name="connsiteX2" fmla="*/ 355022 w 1571916"/>
                  <a:gd name="connsiteY2" fmla="*/ 922836 h 1083149"/>
                  <a:gd name="connsiteX3" fmla="*/ 1227065 w 1571916"/>
                  <a:gd name="connsiteY3" fmla="*/ 932175 h 1083149"/>
                  <a:gd name="connsiteX4" fmla="*/ 1571916 w 1571916"/>
                  <a:gd name="connsiteY4" fmla="*/ 1047 h 1083149"/>
                  <a:gd name="connsiteX0" fmla="*/ 1571916 w 1571916"/>
                  <a:gd name="connsiteY0" fmla="*/ 1047 h 1083149"/>
                  <a:gd name="connsiteX1" fmla="*/ 0 w 1571916"/>
                  <a:gd name="connsiteY1" fmla="*/ 0 h 1083149"/>
                  <a:gd name="connsiteX2" fmla="*/ 355022 w 1571916"/>
                  <a:gd name="connsiteY2" fmla="*/ 922836 h 1083149"/>
                  <a:gd name="connsiteX3" fmla="*/ 1227065 w 1571916"/>
                  <a:gd name="connsiteY3" fmla="*/ 932175 h 1083149"/>
                  <a:gd name="connsiteX4" fmla="*/ 1571916 w 1571916"/>
                  <a:gd name="connsiteY4" fmla="*/ 1047 h 1083149"/>
                  <a:gd name="connsiteX0" fmla="*/ 1571916 w 1571916"/>
                  <a:gd name="connsiteY0" fmla="*/ 1047 h 1083149"/>
                  <a:gd name="connsiteX1" fmla="*/ 0 w 1571916"/>
                  <a:gd name="connsiteY1" fmla="*/ 0 h 1083149"/>
                  <a:gd name="connsiteX2" fmla="*/ 355022 w 1571916"/>
                  <a:gd name="connsiteY2" fmla="*/ 922836 h 1083149"/>
                  <a:gd name="connsiteX3" fmla="*/ 1227065 w 1571916"/>
                  <a:gd name="connsiteY3" fmla="*/ 932175 h 1083149"/>
                  <a:gd name="connsiteX4" fmla="*/ 1571916 w 1571916"/>
                  <a:gd name="connsiteY4" fmla="*/ 1047 h 1083149"/>
                  <a:gd name="connsiteX0" fmla="*/ 1571916 w 1571916"/>
                  <a:gd name="connsiteY0" fmla="*/ 1047 h 1083149"/>
                  <a:gd name="connsiteX1" fmla="*/ 0 w 1571916"/>
                  <a:gd name="connsiteY1" fmla="*/ 0 h 1083149"/>
                  <a:gd name="connsiteX2" fmla="*/ 355022 w 1571916"/>
                  <a:gd name="connsiteY2" fmla="*/ 922836 h 1083149"/>
                  <a:gd name="connsiteX3" fmla="*/ 1220947 w 1571916"/>
                  <a:gd name="connsiteY3" fmla="*/ 932175 h 1083149"/>
                  <a:gd name="connsiteX4" fmla="*/ 1571916 w 1571916"/>
                  <a:gd name="connsiteY4" fmla="*/ 1047 h 1083149"/>
                  <a:gd name="connsiteX0" fmla="*/ 1661651 w 1661651"/>
                  <a:gd name="connsiteY0" fmla="*/ 9068 h 1083149"/>
                  <a:gd name="connsiteX1" fmla="*/ 0 w 1661651"/>
                  <a:gd name="connsiteY1" fmla="*/ 0 h 1083149"/>
                  <a:gd name="connsiteX2" fmla="*/ 355022 w 1661651"/>
                  <a:gd name="connsiteY2" fmla="*/ 922836 h 1083149"/>
                  <a:gd name="connsiteX3" fmla="*/ 1220947 w 1661651"/>
                  <a:gd name="connsiteY3" fmla="*/ 932175 h 1083149"/>
                  <a:gd name="connsiteX4" fmla="*/ 1661651 w 1661651"/>
                  <a:gd name="connsiteY4" fmla="*/ 9068 h 1083149"/>
                  <a:gd name="connsiteX0" fmla="*/ 1661651 w 1661651"/>
                  <a:gd name="connsiteY0" fmla="*/ 9068 h 1083149"/>
                  <a:gd name="connsiteX1" fmla="*/ 0 w 1661651"/>
                  <a:gd name="connsiteY1" fmla="*/ 0 h 1083149"/>
                  <a:gd name="connsiteX2" fmla="*/ 355022 w 1661651"/>
                  <a:gd name="connsiteY2" fmla="*/ 922836 h 1083149"/>
                  <a:gd name="connsiteX3" fmla="*/ 1220947 w 1661651"/>
                  <a:gd name="connsiteY3" fmla="*/ 932175 h 1083149"/>
                  <a:gd name="connsiteX4" fmla="*/ 1661651 w 1661651"/>
                  <a:gd name="connsiteY4" fmla="*/ 9068 h 1083149"/>
                  <a:gd name="connsiteX0" fmla="*/ 1661651 w 1661651"/>
                  <a:gd name="connsiteY0" fmla="*/ 9068 h 1083149"/>
                  <a:gd name="connsiteX1" fmla="*/ 0 w 1661651"/>
                  <a:gd name="connsiteY1" fmla="*/ 0 h 1083149"/>
                  <a:gd name="connsiteX2" fmla="*/ 355022 w 1661651"/>
                  <a:gd name="connsiteY2" fmla="*/ 922836 h 1083149"/>
                  <a:gd name="connsiteX3" fmla="*/ 1220947 w 1661651"/>
                  <a:gd name="connsiteY3" fmla="*/ 932175 h 1083149"/>
                  <a:gd name="connsiteX4" fmla="*/ 1661651 w 1661651"/>
                  <a:gd name="connsiteY4" fmla="*/ 9068 h 1083149"/>
                  <a:gd name="connsiteX0" fmla="*/ 1661651 w 1661651"/>
                  <a:gd name="connsiteY0" fmla="*/ 9068 h 1083149"/>
                  <a:gd name="connsiteX1" fmla="*/ 0 w 1661651"/>
                  <a:gd name="connsiteY1" fmla="*/ 0 h 1083149"/>
                  <a:gd name="connsiteX2" fmla="*/ 355022 w 1661651"/>
                  <a:gd name="connsiteY2" fmla="*/ 922836 h 1083149"/>
                  <a:gd name="connsiteX3" fmla="*/ 1220947 w 1661651"/>
                  <a:gd name="connsiteY3" fmla="*/ 932175 h 1083149"/>
                  <a:gd name="connsiteX4" fmla="*/ 1661651 w 1661651"/>
                  <a:gd name="connsiteY4" fmla="*/ 9068 h 1083149"/>
                  <a:gd name="connsiteX0" fmla="*/ 1661651 w 1661651"/>
                  <a:gd name="connsiteY0" fmla="*/ 9068 h 1083149"/>
                  <a:gd name="connsiteX1" fmla="*/ 0 w 1661651"/>
                  <a:gd name="connsiteY1" fmla="*/ 0 h 1083149"/>
                  <a:gd name="connsiteX2" fmla="*/ 355022 w 1661651"/>
                  <a:gd name="connsiteY2" fmla="*/ 922836 h 1083149"/>
                  <a:gd name="connsiteX3" fmla="*/ 1220947 w 1661651"/>
                  <a:gd name="connsiteY3" fmla="*/ 932175 h 1083149"/>
                  <a:gd name="connsiteX4" fmla="*/ 1661651 w 1661651"/>
                  <a:gd name="connsiteY4" fmla="*/ 9068 h 1083149"/>
                  <a:gd name="connsiteX0" fmla="*/ 1661651 w 1661651"/>
                  <a:gd name="connsiteY0" fmla="*/ 9068 h 1083149"/>
                  <a:gd name="connsiteX1" fmla="*/ 0 w 1661651"/>
                  <a:gd name="connsiteY1" fmla="*/ 0 h 1083149"/>
                  <a:gd name="connsiteX2" fmla="*/ 355022 w 1661651"/>
                  <a:gd name="connsiteY2" fmla="*/ 922836 h 1083149"/>
                  <a:gd name="connsiteX3" fmla="*/ 1220947 w 1661651"/>
                  <a:gd name="connsiteY3" fmla="*/ 932175 h 1083149"/>
                  <a:gd name="connsiteX4" fmla="*/ 1661651 w 1661651"/>
                  <a:gd name="connsiteY4" fmla="*/ 9068 h 1083149"/>
                  <a:gd name="connsiteX0" fmla="*/ 1633099 w 1633099"/>
                  <a:gd name="connsiteY0" fmla="*/ 0 h 1106165"/>
                  <a:gd name="connsiteX1" fmla="*/ 0 w 1633099"/>
                  <a:gd name="connsiteY1" fmla="*/ 23016 h 1106165"/>
                  <a:gd name="connsiteX2" fmla="*/ 355022 w 1633099"/>
                  <a:gd name="connsiteY2" fmla="*/ 945852 h 1106165"/>
                  <a:gd name="connsiteX3" fmla="*/ 1220947 w 1633099"/>
                  <a:gd name="connsiteY3" fmla="*/ 955191 h 1106165"/>
                  <a:gd name="connsiteX4" fmla="*/ 1633099 w 1633099"/>
                  <a:gd name="connsiteY4" fmla="*/ 0 h 1106165"/>
                  <a:gd name="connsiteX0" fmla="*/ 1633099 w 1633099"/>
                  <a:gd name="connsiteY0" fmla="*/ 0 h 1106165"/>
                  <a:gd name="connsiteX1" fmla="*/ 0 w 1633099"/>
                  <a:gd name="connsiteY1" fmla="*/ 23016 h 1106165"/>
                  <a:gd name="connsiteX2" fmla="*/ 355022 w 1633099"/>
                  <a:gd name="connsiteY2" fmla="*/ 945852 h 1106165"/>
                  <a:gd name="connsiteX3" fmla="*/ 1220947 w 1633099"/>
                  <a:gd name="connsiteY3" fmla="*/ 955191 h 1106165"/>
                  <a:gd name="connsiteX4" fmla="*/ 1633099 w 1633099"/>
                  <a:gd name="connsiteY4" fmla="*/ 0 h 1106165"/>
                  <a:gd name="connsiteX0" fmla="*/ 1684085 w 1684085"/>
                  <a:gd name="connsiteY0" fmla="*/ 17089 h 1123254"/>
                  <a:gd name="connsiteX1" fmla="*/ 0 w 1684085"/>
                  <a:gd name="connsiteY1" fmla="*/ 0 h 1123254"/>
                  <a:gd name="connsiteX2" fmla="*/ 406008 w 1684085"/>
                  <a:gd name="connsiteY2" fmla="*/ 962941 h 1123254"/>
                  <a:gd name="connsiteX3" fmla="*/ 1271933 w 1684085"/>
                  <a:gd name="connsiteY3" fmla="*/ 972280 h 1123254"/>
                  <a:gd name="connsiteX4" fmla="*/ 1684085 w 1684085"/>
                  <a:gd name="connsiteY4" fmla="*/ 17089 h 1123254"/>
                  <a:gd name="connsiteX0" fmla="*/ 1684085 w 1684085"/>
                  <a:gd name="connsiteY0" fmla="*/ 17089 h 1123254"/>
                  <a:gd name="connsiteX1" fmla="*/ 0 w 1684085"/>
                  <a:gd name="connsiteY1" fmla="*/ 0 h 1123254"/>
                  <a:gd name="connsiteX2" fmla="*/ 406008 w 1684085"/>
                  <a:gd name="connsiteY2" fmla="*/ 962941 h 1123254"/>
                  <a:gd name="connsiteX3" fmla="*/ 1271933 w 1684085"/>
                  <a:gd name="connsiteY3" fmla="*/ 972280 h 1123254"/>
                  <a:gd name="connsiteX4" fmla="*/ 1684085 w 1684085"/>
                  <a:gd name="connsiteY4" fmla="*/ 17089 h 1123254"/>
                  <a:gd name="connsiteX0" fmla="*/ 1684085 w 1684085"/>
                  <a:gd name="connsiteY0" fmla="*/ 17089 h 1128718"/>
                  <a:gd name="connsiteX1" fmla="*/ 0 w 1684085"/>
                  <a:gd name="connsiteY1" fmla="*/ 0 h 1128718"/>
                  <a:gd name="connsiteX2" fmla="*/ 406008 w 1684085"/>
                  <a:gd name="connsiteY2" fmla="*/ 962941 h 1128718"/>
                  <a:gd name="connsiteX3" fmla="*/ 1253840 w 1684085"/>
                  <a:gd name="connsiteY3" fmla="*/ 982954 h 1128718"/>
                  <a:gd name="connsiteX4" fmla="*/ 1684085 w 1684085"/>
                  <a:gd name="connsiteY4" fmla="*/ 17089 h 1128718"/>
                  <a:gd name="connsiteX0" fmla="*/ 1684085 w 1684085"/>
                  <a:gd name="connsiteY0" fmla="*/ 17089 h 1128718"/>
                  <a:gd name="connsiteX1" fmla="*/ 0 w 1684085"/>
                  <a:gd name="connsiteY1" fmla="*/ 0 h 1128718"/>
                  <a:gd name="connsiteX2" fmla="*/ 406008 w 1684085"/>
                  <a:gd name="connsiteY2" fmla="*/ 962941 h 1128718"/>
                  <a:gd name="connsiteX3" fmla="*/ 1253840 w 1684085"/>
                  <a:gd name="connsiteY3" fmla="*/ 982954 h 1128718"/>
                  <a:gd name="connsiteX4" fmla="*/ 1684085 w 1684085"/>
                  <a:gd name="connsiteY4" fmla="*/ 17089 h 1128718"/>
                  <a:gd name="connsiteX0" fmla="*/ 1684085 w 1684085"/>
                  <a:gd name="connsiteY0" fmla="*/ 17089 h 1128718"/>
                  <a:gd name="connsiteX1" fmla="*/ 0 w 1684085"/>
                  <a:gd name="connsiteY1" fmla="*/ 0 h 1128718"/>
                  <a:gd name="connsiteX2" fmla="*/ 411436 w 1684085"/>
                  <a:gd name="connsiteY2" fmla="*/ 962941 h 1128718"/>
                  <a:gd name="connsiteX3" fmla="*/ 1253840 w 1684085"/>
                  <a:gd name="connsiteY3" fmla="*/ 982954 h 1128718"/>
                  <a:gd name="connsiteX4" fmla="*/ 1684085 w 1684085"/>
                  <a:gd name="connsiteY4" fmla="*/ 17089 h 1128718"/>
                  <a:gd name="connsiteX0" fmla="*/ 1684085 w 1684085"/>
                  <a:gd name="connsiteY0" fmla="*/ 17089 h 1128718"/>
                  <a:gd name="connsiteX1" fmla="*/ 0 w 1684085"/>
                  <a:gd name="connsiteY1" fmla="*/ 0 h 1128718"/>
                  <a:gd name="connsiteX2" fmla="*/ 411436 w 1684085"/>
                  <a:gd name="connsiteY2" fmla="*/ 962941 h 1128718"/>
                  <a:gd name="connsiteX3" fmla="*/ 1253840 w 1684085"/>
                  <a:gd name="connsiteY3" fmla="*/ 982954 h 1128718"/>
                  <a:gd name="connsiteX4" fmla="*/ 1684085 w 1684085"/>
                  <a:gd name="connsiteY4" fmla="*/ 17089 h 1128718"/>
                  <a:gd name="connsiteX0" fmla="*/ 1675039 w 1675039"/>
                  <a:gd name="connsiteY0" fmla="*/ 0 h 1111629"/>
                  <a:gd name="connsiteX1" fmla="*/ 0 w 1675039"/>
                  <a:gd name="connsiteY1" fmla="*/ 701 h 1111629"/>
                  <a:gd name="connsiteX2" fmla="*/ 402390 w 1675039"/>
                  <a:gd name="connsiteY2" fmla="*/ 945852 h 1111629"/>
                  <a:gd name="connsiteX3" fmla="*/ 1244794 w 1675039"/>
                  <a:gd name="connsiteY3" fmla="*/ 965865 h 1111629"/>
                  <a:gd name="connsiteX4" fmla="*/ 1675039 w 1675039"/>
                  <a:gd name="connsiteY4" fmla="*/ 0 h 1111629"/>
                  <a:gd name="connsiteX0" fmla="*/ 1662374 w 1662374"/>
                  <a:gd name="connsiteY0" fmla="*/ 0 h 1111629"/>
                  <a:gd name="connsiteX1" fmla="*/ 0 w 1662374"/>
                  <a:gd name="connsiteY1" fmla="*/ 701 h 1111629"/>
                  <a:gd name="connsiteX2" fmla="*/ 402390 w 1662374"/>
                  <a:gd name="connsiteY2" fmla="*/ 945852 h 1111629"/>
                  <a:gd name="connsiteX3" fmla="*/ 1244794 w 1662374"/>
                  <a:gd name="connsiteY3" fmla="*/ 965865 h 1111629"/>
                  <a:gd name="connsiteX4" fmla="*/ 1662374 w 1662374"/>
                  <a:gd name="connsiteY4" fmla="*/ 0 h 1111629"/>
                  <a:gd name="connsiteX0" fmla="*/ 1662374 w 1662374"/>
                  <a:gd name="connsiteY0" fmla="*/ 0 h 1111629"/>
                  <a:gd name="connsiteX1" fmla="*/ 0 w 1662374"/>
                  <a:gd name="connsiteY1" fmla="*/ 701 h 1111629"/>
                  <a:gd name="connsiteX2" fmla="*/ 402390 w 1662374"/>
                  <a:gd name="connsiteY2" fmla="*/ 945852 h 1111629"/>
                  <a:gd name="connsiteX3" fmla="*/ 1244794 w 1662374"/>
                  <a:gd name="connsiteY3" fmla="*/ 965865 h 1111629"/>
                  <a:gd name="connsiteX4" fmla="*/ 1662374 w 1662374"/>
                  <a:gd name="connsiteY4" fmla="*/ 0 h 1111629"/>
                  <a:gd name="connsiteX0" fmla="*/ 1662374 w 1662374"/>
                  <a:gd name="connsiteY0" fmla="*/ 0 h 1111629"/>
                  <a:gd name="connsiteX1" fmla="*/ 0 w 1662374"/>
                  <a:gd name="connsiteY1" fmla="*/ 701 h 1111629"/>
                  <a:gd name="connsiteX2" fmla="*/ 402390 w 1662374"/>
                  <a:gd name="connsiteY2" fmla="*/ 945852 h 1111629"/>
                  <a:gd name="connsiteX3" fmla="*/ 1244794 w 1662374"/>
                  <a:gd name="connsiteY3" fmla="*/ 965865 h 1111629"/>
                  <a:gd name="connsiteX4" fmla="*/ 1662374 w 1662374"/>
                  <a:gd name="connsiteY4" fmla="*/ 0 h 1111629"/>
                  <a:gd name="connsiteX0" fmla="*/ 1662374 w 1662374"/>
                  <a:gd name="connsiteY0" fmla="*/ 0 h 1116332"/>
                  <a:gd name="connsiteX1" fmla="*/ 0 w 1662374"/>
                  <a:gd name="connsiteY1" fmla="*/ 701 h 1116332"/>
                  <a:gd name="connsiteX2" fmla="*/ 402390 w 1662374"/>
                  <a:gd name="connsiteY2" fmla="*/ 955506 h 1116332"/>
                  <a:gd name="connsiteX3" fmla="*/ 1244794 w 1662374"/>
                  <a:gd name="connsiteY3" fmla="*/ 965865 h 1116332"/>
                  <a:gd name="connsiteX4" fmla="*/ 1662374 w 1662374"/>
                  <a:gd name="connsiteY4" fmla="*/ 0 h 1116332"/>
                  <a:gd name="connsiteX0" fmla="*/ 1662374 w 1662374"/>
                  <a:gd name="connsiteY0" fmla="*/ 0 h 1109221"/>
                  <a:gd name="connsiteX1" fmla="*/ 0 w 1662374"/>
                  <a:gd name="connsiteY1" fmla="*/ 701 h 1109221"/>
                  <a:gd name="connsiteX2" fmla="*/ 402390 w 1662374"/>
                  <a:gd name="connsiteY2" fmla="*/ 955506 h 1109221"/>
                  <a:gd name="connsiteX3" fmla="*/ 1244794 w 1662374"/>
                  <a:gd name="connsiteY3" fmla="*/ 965865 h 1109221"/>
                  <a:gd name="connsiteX4" fmla="*/ 1662374 w 1662374"/>
                  <a:gd name="connsiteY4" fmla="*/ 0 h 1109221"/>
                  <a:gd name="connsiteX0" fmla="*/ 1662374 w 1662374"/>
                  <a:gd name="connsiteY0" fmla="*/ 0 h 1118138"/>
                  <a:gd name="connsiteX1" fmla="*/ 0 w 1662374"/>
                  <a:gd name="connsiteY1" fmla="*/ 701 h 1118138"/>
                  <a:gd name="connsiteX2" fmla="*/ 402390 w 1662374"/>
                  <a:gd name="connsiteY2" fmla="*/ 955506 h 1118138"/>
                  <a:gd name="connsiteX3" fmla="*/ 1244794 w 1662374"/>
                  <a:gd name="connsiteY3" fmla="*/ 965865 h 1118138"/>
                  <a:gd name="connsiteX4" fmla="*/ 1662374 w 1662374"/>
                  <a:gd name="connsiteY4" fmla="*/ 0 h 1118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2374" h="1118138">
                    <a:moveTo>
                      <a:pt x="1662374" y="0"/>
                    </a:moveTo>
                    <a:cubicBezTo>
                      <a:pt x="1339013" y="500538"/>
                      <a:pt x="284927" y="466937"/>
                      <a:pt x="0" y="701"/>
                    </a:cubicBezTo>
                    <a:cubicBezTo>
                      <a:pt x="225604" y="386678"/>
                      <a:pt x="300063" y="626062"/>
                      <a:pt x="402390" y="955506"/>
                    </a:cubicBezTo>
                    <a:cubicBezTo>
                      <a:pt x="594015" y="1175948"/>
                      <a:pt x="967981" y="1165297"/>
                      <a:pt x="1244794" y="965865"/>
                    </a:cubicBezTo>
                    <a:cubicBezTo>
                      <a:pt x="1369267" y="515485"/>
                      <a:pt x="1534293" y="230835"/>
                      <a:pt x="1662374" y="0"/>
                    </a:cubicBezTo>
                    <a:close/>
                  </a:path>
                </a:pathLst>
              </a:custGeom>
              <a:solidFill>
                <a:srgbClr val="57B2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9893404-4EE5-D1D3-2994-91BC28883149}"/>
                  </a:ext>
                </a:extLst>
              </p:cNvPr>
              <p:cNvSpPr/>
              <p:nvPr/>
            </p:nvSpPr>
            <p:spPr>
              <a:xfrm>
                <a:off x="8546092" y="4839885"/>
                <a:ext cx="647090" cy="448041"/>
              </a:xfrm>
              <a:custGeom>
                <a:avLst/>
                <a:gdLst>
                  <a:gd name="connsiteX0" fmla="*/ 597626 w 597626"/>
                  <a:gd name="connsiteY0" fmla="*/ 0 h 427809"/>
                  <a:gd name="connsiteX1" fmla="*/ 574766 w 597626"/>
                  <a:gd name="connsiteY1" fmla="*/ 424543 h 427809"/>
                  <a:gd name="connsiteX2" fmla="*/ 32658 w 597626"/>
                  <a:gd name="connsiteY2" fmla="*/ 427809 h 427809"/>
                  <a:gd name="connsiteX3" fmla="*/ 0 w 597626"/>
                  <a:gd name="connsiteY3" fmla="*/ 6532 h 427809"/>
                  <a:gd name="connsiteX4" fmla="*/ 597626 w 597626"/>
                  <a:gd name="connsiteY4" fmla="*/ 0 h 427809"/>
                  <a:gd name="connsiteX0" fmla="*/ 597626 w 597626"/>
                  <a:gd name="connsiteY0" fmla="*/ 0 h 427809"/>
                  <a:gd name="connsiteX1" fmla="*/ 574766 w 597626"/>
                  <a:gd name="connsiteY1" fmla="*/ 424543 h 427809"/>
                  <a:gd name="connsiteX2" fmla="*/ 32658 w 597626"/>
                  <a:gd name="connsiteY2" fmla="*/ 427809 h 427809"/>
                  <a:gd name="connsiteX3" fmla="*/ 0 w 597626"/>
                  <a:gd name="connsiteY3" fmla="*/ 6532 h 427809"/>
                  <a:gd name="connsiteX4" fmla="*/ 597626 w 597626"/>
                  <a:gd name="connsiteY4" fmla="*/ 0 h 427809"/>
                  <a:gd name="connsiteX0" fmla="*/ 597626 w 597626"/>
                  <a:gd name="connsiteY0" fmla="*/ 57 h 427866"/>
                  <a:gd name="connsiteX1" fmla="*/ 574766 w 597626"/>
                  <a:gd name="connsiteY1" fmla="*/ 424600 h 427866"/>
                  <a:gd name="connsiteX2" fmla="*/ 32658 w 597626"/>
                  <a:gd name="connsiteY2" fmla="*/ 427866 h 427866"/>
                  <a:gd name="connsiteX3" fmla="*/ 0 w 597626"/>
                  <a:gd name="connsiteY3" fmla="*/ 58 h 427866"/>
                  <a:gd name="connsiteX4" fmla="*/ 597626 w 597626"/>
                  <a:gd name="connsiteY4" fmla="*/ 57 h 427866"/>
                  <a:gd name="connsiteX0" fmla="*/ 597626 w 597626"/>
                  <a:gd name="connsiteY0" fmla="*/ 0 h 427809"/>
                  <a:gd name="connsiteX1" fmla="*/ 574766 w 597626"/>
                  <a:gd name="connsiteY1" fmla="*/ 424543 h 427809"/>
                  <a:gd name="connsiteX2" fmla="*/ 32658 w 597626"/>
                  <a:gd name="connsiteY2" fmla="*/ 427809 h 427809"/>
                  <a:gd name="connsiteX3" fmla="*/ 0 w 597626"/>
                  <a:gd name="connsiteY3" fmla="*/ 1 h 427809"/>
                  <a:gd name="connsiteX4" fmla="*/ 597626 w 597626"/>
                  <a:gd name="connsiteY4" fmla="*/ 0 h 427809"/>
                  <a:gd name="connsiteX0" fmla="*/ 597626 w 597626"/>
                  <a:gd name="connsiteY0" fmla="*/ 0 h 444159"/>
                  <a:gd name="connsiteX1" fmla="*/ 574766 w 597626"/>
                  <a:gd name="connsiteY1" fmla="*/ 424543 h 444159"/>
                  <a:gd name="connsiteX2" fmla="*/ 32658 w 597626"/>
                  <a:gd name="connsiteY2" fmla="*/ 427809 h 444159"/>
                  <a:gd name="connsiteX3" fmla="*/ 0 w 597626"/>
                  <a:gd name="connsiteY3" fmla="*/ 1 h 444159"/>
                  <a:gd name="connsiteX4" fmla="*/ 597626 w 597626"/>
                  <a:gd name="connsiteY4" fmla="*/ 0 h 444159"/>
                  <a:gd name="connsiteX0" fmla="*/ 597626 w 597626"/>
                  <a:gd name="connsiteY0" fmla="*/ 0 h 454414"/>
                  <a:gd name="connsiteX1" fmla="*/ 574766 w 597626"/>
                  <a:gd name="connsiteY1" fmla="*/ 424543 h 454414"/>
                  <a:gd name="connsiteX2" fmla="*/ 32658 w 597626"/>
                  <a:gd name="connsiteY2" fmla="*/ 427809 h 454414"/>
                  <a:gd name="connsiteX3" fmla="*/ 0 w 597626"/>
                  <a:gd name="connsiteY3" fmla="*/ 1 h 454414"/>
                  <a:gd name="connsiteX4" fmla="*/ 597626 w 597626"/>
                  <a:gd name="connsiteY4" fmla="*/ 0 h 454414"/>
                  <a:gd name="connsiteX0" fmla="*/ 597626 w 597626"/>
                  <a:gd name="connsiteY0" fmla="*/ 0 h 449622"/>
                  <a:gd name="connsiteX1" fmla="*/ 574766 w 597626"/>
                  <a:gd name="connsiteY1" fmla="*/ 424543 h 449622"/>
                  <a:gd name="connsiteX2" fmla="*/ 39190 w 597626"/>
                  <a:gd name="connsiteY2" fmla="*/ 418012 h 449622"/>
                  <a:gd name="connsiteX3" fmla="*/ 0 w 597626"/>
                  <a:gd name="connsiteY3" fmla="*/ 1 h 449622"/>
                  <a:gd name="connsiteX4" fmla="*/ 597626 w 597626"/>
                  <a:gd name="connsiteY4" fmla="*/ 0 h 449622"/>
                  <a:gd name="connsiteX0" fmla="*/ 597626 w 597626"/>
                  <a:gd name="connsiteY0" fmla="*/ 0 h 446180"/>
                  <a:gd name="connsiteX1" fmla="*/ 561703 w 597626"/>
                  <a:gd name="connsiteY1" fmla="*/ 418012 h 446180"/>
                  <a:gd name="connsiteX2" fmla="*/ 39190 w 597626"/>
                  <a:gd name="connsiteY2" fmla="*/ 418012 h 446180"/>
                  <a:gd name="connsiteX3" fmla="*/ 0 w 597626"/>
                  <a:gd name="connsiteY3" fmla="*/ 1 h 446180"/>
                  <a:gd name="connsiteX4" fmla="*/ 597626 w 597626"/>
                  <a:gd name="connsiteY4" fmla="*/ 0 h 446180"/>
                  <a:gd name="connsiteX0" fmla="*/ 597626 w 597626"/>
                  <a:gd name="connsiteY0" fmla="*/ 0 h 441806"/>
                  <a:gd name="connsiteX1" fmla="*/ 578032 w 597626"/>
                  <a:gd name="connsiteY1" fmla="*/ 408215 h 441806"/>
                  <a:gd name="connsiteX2" fmla="*/ 39190 w 597626"/>
                  <a:gd name="connsiteY2" fmla="*/ 418012 h 441806"/>
                  <a:gd name="connsiteX3" fmla="*/ 0 w 597626"/>
                  <a:gd name="connsiteY3" fmla="*/ 1 h 441806"/>
                  <a:gd name="connsiteX4" fmla="*/ 597626 w 597626"/>
                  <a:gd name="connsiteY4" fmla="*/ 0 h 441806"/>
                  <a:gd name="connsiteX0" fmla="*/ 597626 w 597626"/>
                  <a:gd name="connsiteY0" fmla="*/ 0 h 441806"/>
                  <a:gd name="connsiteX1" fmla="*/ 578032 w 597626"/>
                  <a:gd name="connsiteY1" fmla="*/ 408215 h 441806"/>
                  <a:gd name="connsiteX2" fmla="*/ 39190 w 597626"/>
                  <a:gd name="connsiteY2" fmla="*/ 418012 h 441806"/>
                  <a:gd name="connsiteX3" fmla="*/ 0 w 597626"/>
                  <a:gd name="connsiteY3" fmla="*/ 1 h 441806"/>
                  <a:gd name="connsiteX4" fmla="*/ 597626 w 597626"/>
                  <a:gd name="connsiteY4" fmla="*/ 0 h 441806"/>
                  <a:gd name="connsiteX0" fmla="*/ 597626 w 597626"/>
                  <a:gd name="connsiteY0" fmla="*/ 0 h 439895"/>
                  <a:gd name="connsiteX1" fmla="*/ 578032 w 597626"/>
                  <a:gd name="connsiteY1" fmla="*/ 408215 h 439895"/>
                  <a:gd name="connsiteX2" fmla="*/ 32659 w 597626"/>
                  <a:gd name="connsiteY2" fmla="*/ 414747 h 439895"/>
                  <a:gd name="connsiteX3" fmla="*/ 0 w 597626"/>
                  <a:gd name="connsiteY3" fmla="*/ 1 h 439895"/>
                  <a:gd name="connsiteX4" fmla="*/ 597626 w 597626"/>
                  <a:gd name="connsiteY4" fmla="*/ 0 h 439895"/>
                  <a:gd name="connsiteX0" fmla="*/ 597626 w 597626"/>
                  <a:gd name="connsiteY0" fmla="*/ 0 h 439895"/>
                  <a:gd name="connsiteX1" fmla="*/ 578032 w 597626"/>
                  <a:gd name="connsiteY1" fmla="*/ 408215 h 439895"/>
                  <a:gd name="connsiteX2" fmla="*/ 32659 w 597626"/>
                  <a:gd name="connsiteY2" fmla="*/ 414747 h 439895"/>
                  <a:gd name="connsiteX3" fmla="*/ 0 w 597626"/>
                  <a:gd name="connsiteY3" fmla="*/ 1 h 439895"/>
                  <a:gd name="connsiteX4" fmla="*/ 597626 w 597626"/>
                  <a:gd name="connsiteY4" fmla="*/ 0 h 439895"/>
                  <a:gd name="connsiteX0" fmla="*/ 591095 w 591095"/>
                  <a:gd name="connsiteY0" fmla="*/ 0 h 439895"/>
                  <a:gd name="connsiteX1" fmla="*/ 571501 w 591095"/>
                  <a:gd name="connsiteY1" fmla="*/ 408215 h 439895"/>
                  <a:gd name="connsiteX2" fmla="*/ 26128 w 591095"/>
                  <a:gd name="connsiteY2" fmla="*/ 414747 h 439895"/>
                  <a:gd name="connsiteX3" fmla="*/ 0 w 591095"/>
                  <a:gd name="connsiteY3" fmla="*/ 1 h 439895"/>
                  <a:gd name="connsiteX4" fmla="*/ 591095 w 591095"/>
                  <a:gd name="connsiteY4" fmla="*/ 0 h 439895"/>
                  <a:gd name="connsiteX0" fmla="*/ 591095 w 591095"/>
                  <a:gd name="connsiteY0" fmla="*/ 0 h 439895"/>
                  <a:gd name="connsiteX1" fmla="*/ 571501 w 591095"/>
                  <a:gd name="connsiteY1" fmla="*/ 408215 h 439895"/>
                  <a:gd name="connsiteX2" fmla="*/ 26128 w 591095"/>
                  <a:gd name="connsiteY2" fmla="*/ 414747 h 439895"/>
                  <a:gd name="connsiteX3" fmla="*/ 0 w 591095"/>
                  <a:gd name="connsiteY3" fmla="*/ 1 h 439895"/>
                  <a:gd name="connsiteX4" fmla="*/ 591095 w 591095"/>
                  <a:gd name="connsiteY4" fmla="*/ 0 h 439895"/>
                  <a:gd name="connsiteX0" fmla="*/ 591095 w 591095"/>
                  <a:gd name="connsiteY0" fmla="*/ 0 h 439895"/>
                  <a:gd name="connsiteX1" fmla="*/ 571501 w 591095"/>
                  <a:gd name="connsiteY1" fmla="*/ 408215 h 439895"/>
                  <a:gd name="connsiteX2" fmla="*/ 26128 w 591095"/>
                  <a:gd name="connsiteY2" fmla="*/ 414747 h 439895"/>
                  <a:gd name="connsiteX3" fmla="*/ 0 w 591095"/>
                  <a:gd name="connsiteY3" fmla="*/ 1 h 439895"/>
                  <a:gd name="connsiteX4" fmla="*/ 591095 w 591095"/>
                  <a:gd name="connsiteY4" fmla="*/ 0 h 439895"/>
                  <a:gd name="connsiteX0" fmla="*/ 591095 w 591095"/>
                  <a:gd name="connsiteY0" fmla="*/ 0 h 439895"/>
                  <a:gd name="connsiteX1" fmla="*/ 571501 w 591095"/>
                  <a:gd name="connsiteY1" fmla="*/ 408215 h 439895"/>
                  <a:gd name="connsiteX2" fmla="*/ 26128 w 591095"/>
                  <a:gd name="connsiteY2" fmla="*/ 414747 h 439895"/>
                  <a:gd name="connsiteX3" fmla="*/ 0 w 591095"/>
                  <a:gd name="connsiteY3" fmla="*/ 1 h 439895"/>
                  <a:gd name="connsiteX4" fmla="*/ 591095 w 591095"/>
                  <a:gd name="connsiteY4" fmla="*/ 0 h 439895"/>
                  <a:gd name="connsiteX0" fmla="*/ 610374 w 610374"/>
                  <a:gd name="connsiteY0" fmla="*/ 0 h 439895"/>
                  <a:gd name="connsiteX1" fmla="*/ 571501 w 610374"/>
                  <a:gd name="connsiteY1" fmla="*/ 408215 h 439895"/>
                  <a:gd name="connsiteX2" fmla="*/ 26128 w 610374"/>
                  <a:gd name="connsiteY2" fmla="*/ 414747 h 439895"/>
                  <a:gd name="connsiteX3" fmla="*/ 0 w 610374"/>
                  <a:gd name="connsiteY3" fmla="*/ 1 h 439895"/>
                  <a:gd name="connsiteX4" fmla="*/ 610374 w 610374"/>
                  <a:gd name="connsiteY4" fmla="*/ 0 h 439895"/>
                  <a:gd name="connsiteX0" fmla="*/ 610374 w 610374"/>
                  <a:gd name="connsiteY0" fmla="*/ 0 h 439895"/>
                  <a:gd name="connsiteX1" fmla="*/ 571501 w 610374"/>
                  <a:gd name="connsiteY1" fmla="*/ 408215 h 439895"/>
                  <a:gd name="connsiteX2" fmla="*/ 26128 w 610374"/>
                  <a:gd name="connsiteY2" fmla="*/ 414747 h 439895"/>
                  <a:gd name="connsiteX3" fmla="*/ 0 w 610374"/>
                  <a:gd name="connsiteY3" fmla="*/ 1 h 439895"/>
                  <a:gd name="connsiteX4" fmla="*/ 610374 w 610374"/>
                  <a:gd name="connsiteY4" fmla="*/ 0 h 439895"/>
                  <a:gd name="connsiteX0" fmla="*/ 610374 w 610374"/>
                  <a:gd name="connsiteY0" fmla="*/ 0 h 439895"/>
                  <a:gd name="connsiteX1" fmla="*/ 571501 w 610374"/>
                  <a:gd name="connsiteY1" fmla="*/ 408215 h 439895"/>
                  <a:gd name="connsiteX2" fmla="*/ 26128 w 610374"/>
                  <a:gd name="connsiteY2" fmla="*/ 414747 h 439895"/>
                  <a:gd name="connsiteX3" fmla="*/ 0 w 610374"/>
                  <a:gd name="connsiteY3" fmla="*/ 1 h 439895"/>
                  <a:gd name="connsiteX4" fmla="*/ 610374 w 610374"/>
                  <a:gd name="connsiteY4" fmla="*/ 0 h 439895"/>
                  <a:gd name="connsiteX0" fmla="*/ 607619 w 607619"/>
                  <a:gd name="connsiteY0" fmla="*/ 5507 h 439894"/>
                  <a:gd name="connsiteX1" fmla="*/ 571501 w 607619"/>
                  <a:gd name="connsiteY1" fmla="*/ 408214 h 439894"/>
                  <a:gd name="connsiteX2" fmla="*/ 26128 w 607619"/>
                  <a:gd name="connsiteY2" fmla="*/ 414746 h 439894"/>
                  <a:gd name="connsiteX3" fmla="*/ 0 w 607619"/>
                  <a:gd name="connsiteY3" fmla="*/ 0 h 439894"/>
                  <a:gd name="connsiteX4" fmla="*/ 607619 w 607619"/>
                  <a:gd name="connsiteY4" fmla="*/ 5507 h 439894"/>
                  <a:gd name="connsiteX0" fmla="*/ 607619 w 607619"/>
                  <a:gd name="connsiteY0" fmla="*/ 5507 h 439894"/>
                  <a:gd name="connsiteX1" fmla="*/ 571501 w 607619"/>
                  <a:gd name="connsiteY1" fmla="*/ 408214 h 439894"/>
                  <a:gd name="connsiteX2" fmla="*/ 26128 w 607619"/>
                  <a:gd name="connsiteY2" fmla="*/ 414746 h 439894"/>
                  <a:gd name="connsiteX3" fmla="*/ 0 w 607619"/>
                  <a:gd name="connsiteY3" fmla="*/ 0 h 439894"/>
                  <a:gd name="connsiteX4" fmla="*/ 607619 w 607619"/>
                  <a:gd name="connsiteY4" fmla="*/ 5507 h 439894"/>
                  <a:gd name="connsiteX0" fmla="*/ 607619 w 607619"/>
                  <a:gd name="connsiteY0" fmla="*/ 5507 h 439894"/>
                  <a:gd name="connsiteX1" fmla="*/ 571501 w 607619"/>
                  <a:gd name="connsiteY1" fmla="*/ 408214 h 439894"/>
                  <a:gd name="connsiteX2" fmla="*/ 26128 w 607619"/>
                  <a:gd name="connsiteY2" fmla="*/ 414746 h 439894"/>
                  <a:gd name="connsiteX3" fmla="*/ 0 w 607619"/>
                  <a:gd name="connsiteY3" fmla="*/ 0 h 439894"/>
                  <a:gd name="connsiteX4" fmla="*/ 607619 w 607619"/>
                  <a:gd name="connsiteY4" fmla="*/ 5507 h 439894"/>
                  <a:gd name="connsiteX0" fmla="*/ 656957 w 656957"/>
                  <a:gd name="connsiteY0" fmla="*/ 15375 h 449762"/>
                  <a:gd name="connsiteX1" fmla="*/ 620839 w 656957"/>
                  <a:gd name="connsiteY1" fmla="*/ 418082 h 449762"/>
                  <a:gd name="connsiteX2" fmla="*/ 75466 w 656957"/>
                  <a:gd name="connsiteY2" fmla="*/ 424614 h 449762"/>
                  <a:gd name="connsiteX3" fmla="*/ 0 w 656957"/>
                  <a:gd name="connsiteY3" fmla="*/ 0 h 449762"/>
                  <a:gd name="connsiteX4" fmla="*/ 656957 w 656957"/>
                  <a:gd name="connsiteY4" fmla="*/ 15375 h 449762"/>
                  <a:gd name="connsiteX0" fmla="*/ 656957 w 656957"/>
                  <a:gd name="connsiteY0" fmla="*/ 15375 h 451688"/>
                  <a:gd name="connsiteX1" fmla="*/ 620839 w 656957"/>
                  <a:gd name="connsiteY1" fmla="*/ 418082 h 451688"/>
                  <a:gd name="connsiteX2" fmla="*/ 35996 w 656957"/>
                  <a:gd name="connsiteY2" fmla="*/ 427903 h 451688"/>
                  <a:gd name="connsiteX3" fmla="*/ 0 w 656957"/>
                  <a:gd name="connsiteY3" fmla="*/ 0 h 451688"/>
                  <a:gd name="connsiteX4" fmla="*/ 656957 w 656957"/>
                  <a:gd name="connsiteY4" fmla="*/ 15375 h 451688"/>
                  <a:gd name="connsiteX0" fmla="*/ 647090 w 647090"/>
                  <a:gd name="connsiteY0" fmla="*/ 12085 h 448398"/>
                  <a:gd name="connsiteX1" fmla="*/ 610972 w 647090"/>
                  <a:gd name="connsiteY1" fmla="*/ 414792 h 448398"/>
                  <a:gd name="connsiteX2" fmla="*/ 26129 w 647090"/>
                  <a:gd name="connsiteY2" fmla="*/ 424613 h 448398"/>
                  <a:gd name="connsiteX3" fmla="*/ 0 w 647090"/>
                  <a:gd name="connsiteY3" fmla="*/ 0 h 448398"/>
                  <a:gd name="connsiteX4" fmla="*/ 647090 w 647090"/>
                  <a:gd name="connsiteY4" fmla="*/ 12085 h 448398"/>
                  <a:gd name="connsiteX0" fmla="*/ 647090 w 647090"/>
                  <a:gd name="connsiteY0" fmla="*/ 12085 h 448398"/>
                  <a:gd name="connsiteX1" fmla="*/ 610972 w 647090"/>
                  <a:gd name="connsiteY1" fmla="*/ 414792 h 448398"/>
                  <a:gd name="connsiteX2" fmla="*/ 26129 w 647090"/>
                  <a:gd name="connsiteY2" fmla="*/ 424613 h 448398"/>
                  <a:gd name="connsiteX3" fmla="*/ 0 w 647090"/>
                  <a:gd name="connsiteY3" fmla="*/ 0 h 448398"/>
                  <a:gd name="connsiteX4" fmla="*/ 647090 w 647090"/>
                  <a:gd name="connsiteY4" fmla="*/ 12085 h 448398"/>
                  <a:gd name="connsiteX0" fmla="*/ 647090 w 647090"/>
                  <a:gd name="connsiteY0" fmla="*/ 12085 h 448398"/>
                  <a:gd name="connsiteX1" fmla="*/ 610972 w 647090"/>
                  <a:gd name="connsiteY1" fmla="*/ 414792 h 448398"/>
                  <a:gd name="connsiteX2" fmla="*/ 26129 w 647090"/>
                  <a:gd name="connsiteY2" fmla="*/ 424613 h 448398"/>
                  <a:gd name="connsiteX3" fmla="*/ 0 w 647090"/>
                  <a:gd name="connsiteY3" fmla="*/ 0 h 448398"/>
                  <a:gd name="connsiteX4" fmla="*/ 647090 w 647090"/>
                  <a:gd name="connsiteY4" fmla="*/ 12085 h 448398"/>
                  <a:gd name="connsiteX0" fmla="*/ 647090 w 647090"/>
                  <a:gd name="connsiteY0" fmla="*/ 12085 h 449761"/>
                  <a:gd name="connsiteX1" fmla="*/ 610972 w 647090"/>
                  <a:gd name="connsiteY1" fmla="*/ 418081 h 449761"/>
                  <a:gd name="connsiteX2" fmla="*/ 26129 w 647090"/>
                  <a:gd name="connsiteY2" fmla="*/ 424613 h 449761"/>
                  <a:gd name="connsiteX3" fmla="*/ 0 w 647090"/>
                  <a:gd name="connsiteY3" fmla="*/ 0 h 449761"/>
                  <a:gd name="connsiteX4" fmla="*/ 647090 w 647090"/>
                  <a:gd name="connsiteY4" fmla="*/ 12085 h 449761"/>
                  <a:gd name="connsiteX0" fmla="*/ 647090 w 647090"/>
                  <a:gd name="connsiteY0" fmla="*/ 12085 h 445839"/>
                  <a:gd name="connsiteX1" fmla="*/ 610972 w 647090"/>
                  <a:gd name="connsiteY1" fmla="*/ 418081 h 445839"/>
                  <a:gd name="connsiteX2" fmla="*/ 26129 w 647090"/>
                  <a:gd name="connsiteY2" fmla="*/ 424613 h 445839"/>
                  <a:gd name="connsiteX3" fmla="*/ 0 w 647090"/>
                  <a:gd name="connsiteY3" fmla="*/ 0 h 445839"/>
                  <a:gd name="connsiteX4" fmla="*/ 647090 w 647090"/>
                  <a:gd name="connsiteY4" fmla="*/ 12085 h 445839"/>
                  <a:gd name="connsiteX0" fmla="*/ 647090 w 647090"/>
                  <a:gd name="connsiteY0" fmla="*/ 12085 h 445839"/>
                  <a:gd name="connsiteX1" fmla="*/ 610972 w 647090"/>
                  <a:gd name="connsiteY1" fmla="*/ 418081 h 445839"/>
                  <a:gd name="connsiteX2" fmla="*/ 26129 w 647090"/>
                  <a:gd name="connsiteY2" fmla="*/ 424613 h 445839"/>
                  <a:gd name="connsiteX3" fmla="*/ 0 w 647090"/>
                  <a:gd name="connsiteY3" fmla="*/ 0 h 445839"/>
                  <a:gd name="connsiteX4" fmla="*/ 647090 w 647090"/>
                  <a:gd name="connsiteY4" fmla="*/ 12085 h 445839"/>
                  <a:gd name="connsiteX0" fmla="*/ 647090 w 647090"/>
                  <a:gd name="connsiteY0" fmla="*/ 12085 h 445839"/>
                  <a:gd name="connsiteX1" fmla="*/ 610972 w 647090"/>
                  <a:gd name="connsiteY1" fmla="*/ 418081 h 445839"/>
                  <a:gd name="connsiteX2" fmla="*/ 26129 w 647090"/>
                  <a:gd name="connsiteY2" fmla="*/ 424613 h 445839"/>
                  <a:gd name="connsiteX3" fmla="*/ 0 w 647090"/>
                  <a:gd name="connsiteY3" fmla="*/ 0 h 445839"/>
                  <a:gd name="connsiteX4" fmla="*/ 647090 w 647090"/>
                  <a:gd name="connsiteY4" fmla="*/ 12085 h 445839"/>
                  <a:gd name="connsiteX0" fmla="*/ 647090 w 647090"/>
                  <a:gd name="connsiteY0" fmla="*/ 12085 h 445839"/>
                  <a:gd name="connsiteX1" fmla="*/ 610972 w 647090"/>
                  <a:gd name="connsiteY1" fmla="*/ 418081 h 445839"/>
                  <a:gd name="connsiteX2" fmla="*/ 26129 w 647090"/>
                  <a:gd name="connsiteY2" fmla="*/ 424613 h 445839"/>
                  <a:gd name="connsiteX3" fmla="*/ 0 w 647090"/>
                  <a:gd name="connsiteY3" fmla="*/ 0 h 445839"/>
                  <a:gd name="connsiteX4" fmla="*/ 647090 w 647090"/>
                  <a:gd name="connsiteY4" fmla="*/ 12085 h 445839"/>
                  <a:gd name="connsiteX0" fmla="*/ 647090 w 647090"/>
                  <a:gd name="connsiteY0" fmla="*/ 0 h 448041"/>
                  <a:gd name="connsiteX1" fmla="*/ 610972 w 647090"/>
                  <a:gd name="connsiteY1" fmla="*/ 420283 h 448041"/>
                  <a:gd name="connsiteX2" fmla="*/ 26129 w 647090"/>
                  <a:gd name="connsiteY2" fmla="*/ 426815 h 448041"/>
                  <a:gd name="connsiteX3" fmla="*/ 0 w 647090"/>
                  <a:gd name="connsiteY3" fmla="*/ 2202 h 448041"/>
                  <a:gd name="connsiteX4" fmla="*/ 647090 w 647090"/>
                  <a:gd name="connsiteY4" fmla="*/ 0 h 4480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7090" h="448041">
                    <a:moveTo>
                      <a:pt x="647090" y="0"/>
                    </a:moveTo>
                    <a:cubicBezTo>
                      <a:pt x="632297" y="92005"/>
                      <a:pt x="618188" y="311753"/>
                      <a:pt x="610972" y="420283"/>
                    </a:cubicBezTo>
                    <a:cubicBezTo>
                      <a:pt x="423737" y="457295"/>
                      <a:pt x="226427" y="455046"/>
                      <a:pt x="26129" y="426815"/>
                    </a:cubicBezTo>
                    <a:cubicBezTo>
                      <a:pt x="25040" y="291423"/>
                      <a:pt x="11225" y="140451"/>
                      <a:pt x="0" y="2202"/>
                    </a:cubicBezTo>
                    <a:cubicBezTo>
                      <a:pt x="199209" y="32682"/>
                      <a:pt x="425021" y="47897"/>
                      <a:pt x="647090" y="0"/>
                    </a:cubicBezTo>
                    <a:close/>
                  </a:path>
                </a:pathLst>
              </a:custGeom>
              <a:solidFill>
                <a:srgbClr val="66FF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0A903670-468D-A0B5-EAD6-2821ECEE5C1F}"/>
                  </a:ext>
                </a:extLst>
              </p:cNvPr>
              <p:cNvSpPr/>
              <p:nvPr/>
            </p:nvSpPr>
            <p:spPr>
              <a:xfrm>
                <a:off x="8479580" y="4305230"/>
                <a:ext cx="764043" cy="574990"/>
              </a:xfrm>
              <a:custGeom>
                <a:avLst/>
                <a:gdLst>
                  <a:gd name="connsiteX0" fmla="*/ 597626 w 597626"/>
                  <a:gd name="connsiteY0" fmla="*/ 0 h 427809"/>
                  <a:gd name="connsiteX1" fmla="*/ 574766 w 597626"/>
                  <a:gd name="connsiteY1" fmla="*/ 424543 h 427809"/>
                  <a:gd name="connsiteX2" fmla="*/ 32658 w 597626"/>
                  <a:gd name="connsiteY2" fmla="*/ 427809 h 427809"/>
                  <a:gd name="connsiteX3" fmla="*/ 0 w 597626"/>
                  <a:gd name="connsiteY3" fmla="*/ 6532 h 427809"/>
                  <a:gd name="connsiteX4" fmla="*/ 597626 w 597626"/>
                  <a:gd name="connsiteY4" fmla="*/ 0 h 427809"/>
                  <a:gd name="connsiteX0" fmla="*/ 597626 w 597626"/>
                  <a:gd name="connsiteY0" fmla="*/ 0 h 427809"/>
                  <a:gd name="connsiteX1" fmla="*/ 574766 w 597626"/>
                  <a:gd name="connsiteY1" fmla="*/ 424543 h 427809"/>
                  <a:gd name="connsiteX2" fmla="*/ 32658 w 597626"/>
                  <a:gd name="connsiteY2" fmla="*/ 427809 h 427809"/>
                  <a:gd name="connsiteX3" fmla="*/ 0 w 597626"/>
                  <a:gd name="connsiteY3" fmla="*/ 6532 h 427809"/>
                  <a:gd name="connsiteX4" fmla="*/ 597626 w 597626"/>
                  <a:gd name="connsiteY4" fmla="*/ 0 h 427809"/>
                  <a:gd name="connsiteX0" fmla="*/ 597626 w 597626"/>
                  <a:gd name="connsiteY0" fmla="*/ 57 h 427866"/>
                  <a:gd name="connsiteX1" fmla="*/ 574766 w 597626"/>
                  <a:gd name="connsiteY1" fmla="*/ 424600 h 427866"/>
                  <a:gd name="connsiteX2" fmla="*/ 32658 w 597626"/>
                  <a:gd name="connsiteY2" fmla="*/ 427866 h 427866"/>
                  <a:gd name="connsiteX3" fmla="*/ 0 w 597626"/>
                  <a:gd name="connsiteY3" fmla="*/ 58 h 427866"/>
                  <a:gd name="connsiteX4" fmla="*/ 597626 w 597626"/>
                  <a:gd name="connsiteY4" fmla="*/ 57 h 427866"/>
                  <a:gd name="connsiteX0" fmla="*/ 597626 w 597626"/>
                  <a:gd name="connsiteY0" fmla="*/ 0 h 427809"/>
                  <a:gd name="connsiteX1" fmla="*/ 574766 w 597626"/>
                  <a:gd name="connsiteY1" fmla="*/ 424543 h 427809"/>
                  <a:gd name="connsiteX2" fmla="*/ 32658 w 597626"/>
                  <a:gd name="connsiteY2" fmla="*/ 427809 h 427809"/>
                  <a:gd name="connsiteX3" fmla="*/ 0 w 597626"/>
                  <a:gd name="connsiteY3" fmla="*/ 1 h 427809"/>
                  <a:gd name="connsiteX4" fmla="*/ 597626 w 597626"/>
                  <a:gd name="connsiteY4" fmla="*/ 0 h 427809"/>
                  <a:gd name="connsiteX0" fmla="*/ 597626 w 597626"/>
                  <a:gd name="connsiteY0" fmla="*/ 0 h 444159"/>
                  <a:gd name="connsiteX1" fmla="*/ 574766 w 597626"/>
                  <a:gd name="connsiteY1" fmla="*/ 424543 h 444159"/>
                  <a:gd name="connsiteX2" fmla="*/ 32658 w 597626"/>
                  <a:gd name="connsiteY2" fmla="*/ 427809 h 444159"/>
                  <a:gd name="connsiteX3" fmla="*/ 0 w 597626"/>
                  <a:gd name="connsiteY3" fmla="*/ 1 h 444159"/>
                  <a:gd name="connsiteX4" fmla="*/ 597626 w 597626"/>
                  <a:gd name="connsiteY4" fmla="*/ 0 h 444159"/>
                  <a:gd name="connsiteX0" fmla="*/ 597626 w 597626"/>
                  <a:gd name="connsiteY0" fmla="*/ 0 h 454414"/>
                  <a:gd name="connsiteX1" fmla="*/ 574766 w 597626"/>
                  <a:gd name="connsiteY1" fmla="*/ 424543 h 454414"/>
                  <a:gd name="connsiteX2" fmla="*/ 32658 w 597626"/>
                  <a:gd name="connsiteY2" fmla="*/ 427809 h 454414"/>
                  <a:gd name="connsiteX3" fmla="*/ 0 w 597626"/>
                  <a:gd name="connsiteY3" fmla="*/ 1 h 454414"/>
                  <a:gd name="connsiteX4" fmla="*/ 597626 w 597626"/>
                  <a:gd name="connsiteY4" fmla="*/ 0 h 454414"/>
                  <a:gd name="connsiteX0" fmla="*/ 597626 w 597626"/>
                  <a:gd name="connsiteY0" fmla="*/ 0 h 449622"/>
                  <a:gd name="connsiteX1" fmla="*/ 574766 w 597626"/>
                  <a:gd name="connsiteY1" fmla="*/ 424543 h 449622"/>
                  <a:gd name="connsiteX2" fmla="*/ 39190 w 597626"/>
                  <a:gd name="connsiteY2" fmla="*/ 418012 h 449622"/>
                  <a:gd name="connsiteX3" fmla="*/ 0 w 597626"/>
                  <a:gd name="connsiteY3" fmla="*/ 1 h 449622"/>
                  <a:gd name="connsiteX4" fmla="*/ 597626 w 597626"/>
                  <a:gd name="connsiteY4" fmla="*/ 0 h 449622"/>
                  <a:gd name="connsiteX0" fmla="*/ 597626 w 597626"/>
                  <a:gd name="connsiteY0" fmla="*/ 0 h 446180"/>
                  <a:gd name="connsiteX1" fmla="*/ 561703 w 597626"/>
                  <a:gd name="connsiteY1" fmla="*/ 418012 h 446180"/>
                  <a:gd name="connsiteX2" fmla="*/ 39190 w 597626"/>
                  <a:gd name="connsiteY2" fmla="*/ 418012 h 446180"/>
                  <a:gd name="connsiteX3" fmla="*/ 0 w 597626"/>
                  <a:gd name="connsiteY3" fmla="*/ 1 h 446180"/>
                  <a:gd name="connsiteX4" fmla="*/ 597626 w 597626"/>
                  <a:gd name="connsiteY4" fmla="*/ 0 h 446180"/>
                  <a:gd name="connsiteX0" fmla="*/ 622822 w 622822"/>
                  <a:gd name="connsiteY0" fmla="*/ 0 h 499372"/>
                  <a:gd name="connsiteX1" fmla="*/ 561703 w 622822"/>
                  <a:gd name="connsiteY1" fmla="*/ 471204 h 499372"/>
                  <a:gd name="connsiteX2" fmla="*/ 39190 w 622822"/>
                  <a:gd name="connsiteY2" fmla="*/ 471204 h 499372"/>
                  <a:gd name="connsiteX3" fmla="*/ 0 w 622822"/>
                  <a:gd name="connsiteY3" fmla="*/ 53193 h 499372"/>
                  <a:gd name="connsiteX4" fmla="*/ 622822 w 622822"/>
                  <a:gd name="connsiteY4" fmla="*/ 0 h 499372"/>
                  <a:gd name="connsiteX0" fmla="*/ 648019 w 648019"/>
                  <a:gd name="connsiteY0" fmla="*/ 0 h 499372"/>
                  <a:gd name="connsiteX1" fmla="*/ 586900 w 648019"/>
                  <a:gd name="connsiteY1" fmla="*/ 471204 h 499372"/>
                  <a:gd name="connsiteX2" fmla="*/ 64387 w 648019"/>
                  <a:gd name="connsiteY2" fmla="*/ 471204 h 499372"/>
                  <a:gd name="connsiteX3" fmla="*/ 0 w 648019"/>
                  <a:gd name="connsiteY3" fmla="*/ 13999 h 499372"/>
                  <a:gd name="connsiteX4" fmla="*/ 648019 w 648019"/>
                  <a:gd name="connsiteY4" fmla="*/ 0 h 499372"/>
                  <a:gd name="connsiteX0" fmla="*/ 648019 w 648019"/>
                  <a:gd name="connsiteY0" fmla="*/ 0 h 499372"/>
                  <a:gd name="connsiteX1" fmla="*/ 586900 w 648019"/>
                  <a:gd name="connsiteY1" fmla="*/ 471204 h 499372"/>
                  <a:gd name="connsiteX2" fmla="*/ 64387 w 648019"/>
                  <a:gd name="connsiteY2" fmla="*/ 471204 h 499372"/>
                  <a:gd name="connsiteX3" fmla="*/ 0 w 648019"/>
                  <a:gd name="connsiteY3" fmla="*/ 13999 h 499372"/>
                  <a:gd name="connsiteX4" fmla="*/ 648019 w 648019"/>
                  <a:gd name="connsiteY4" fmla="*/ 0 h 499372"/>
                  <a:gd name="connsiteX0" fmla="*/ 648019 w 648019"/>
                  <a:gd name="connsiteY0" fmla="*/ 0 h 499372"/>
                  <a:gd name="connsiteX1" fmla="*/ 586900 w 648019"/>
                  <a:gd name="connsiteY1" fmla="*/ 471204 h 499372"/>
                  <a:gd name="connsiteX2" fmla="*/ 64387 w 648019"/>
                  <a:gd name="connsiteY2" fmla="*/ 471204 h 499372"/>
                  <a:gd name="connsiteX3" fmla="*/ 0 w 648019"/>
                  <a:gd name="connsiteY3" fmla="*/ 13999 h 499372"/>
                  <a:gd name="connsiteX4" fmla="*/ 648019 w 648019"/>
                  <a:gd name="connsiteY4" fmla="*/ 0 h 499372"/>
                  <a:gd name="connsiteX0" fmla="*/ 650819 w 650819"/>
                  <a:gd name="connsiteY0" fmla="*/ 0 h 499372"/>
                  <a:gd name="connsiteX1" fmla="*/ 589700 w 650819"/>
                  <a:gd name="connsiteY1" fmla="*/ 471204 h 499372"/>
                  <a:gd name="connsiteX2" fmla="*/ 67187 w 650819"/>
                  <a:gd name="connsiteY2" fmla="*/ 471204 h 499372"/>
                  <a:gd name="connsiteX3" fmla="*/ 0 w 650819"/>
                  <a:gd name="connsiteY3" fmla="*/ 13999 h 499372"/>
                  <a:gd name="connsiteX4" fmla="*/ 650819 w 650819"/>
                  <a:gd name="connsiteY4" fmla="*/ 0 h 499372"/>
                  <a:gd name="connsiteX0" fmla="*/ 650819 w 650819"/>
                  <a:gd name="connsiteY0" fmla="*/ 0 h 499372"/>
                  <a:gd name="connsiteX1" fmla="*/ 589700 w 650819"/>
                  <a:gd name="connsiteY1" fmla="*/ 471204 h 499372"/>
                  <a:gd name="connsiteX2" fmla="*/ 67187 w 650819"/>
                  <a:gd name="connsiteY2" fmla="*/ 471204 h 499372"/>
                  <a:gd name="connsiteX3" fmla="*/ 0 w 650819"/>
                  <a:gd name="connsiteY3" fmla="*/ 13999 h 499372"/>
                  <a:gd name="connsiteX4" fmla="*/ 650819 w 650819"/>
                  <a:gd name="connsiteY4" fmla="*/ 0 h 499372"/>
                  <a:gd name="connsiteX0" fmla="*/ 650819 w 650819"/>
                  <a:gd name="connsiteY0" fmla="*/ 0 h 499372"/>
                  <a:gd name="connsiteX1" fmla="*/ 589700 w 650819"/>
                  <a:gd name="connsiteY1" fmla="*/ 471204 h 499372"/>
                  <a:gd name="connsiteX2" fmla="*/ 67187 w 650819"/>
                  <a:gd name="connsiteY2" fmla="*/ 471204 h 499372"/>
                  <a:gd name="connsiteX3" fmla="*/ 0 w 650819"/>
                  <a:gd name="connsiteY3" fmla="*/ 13999 h 499372"/>
                  <a:gd name="connsiteX4" fmla="*/ 650819 w 650819"/>
                  <a:gd name="connsiteY4" fmla="*/ 0 h 499372"/>
                  <a:gd name="connsiteX0" fmla="*/ 650819 w 650819"/>
                  <a:gd name="connsiteY0" fmla="*/ 0 h 497996"/>
                  <a:gd name="connsiteX1" fmla="*/ 589700 w 650819"/>
                  <a:gd name="connsiteY1" fmla="*/ 471204 h 497996"/>
                  <a:gd name="connsiteX2" fmla="*/ 75586 w 650819"/>
                  <a:gd name="connsiteY2" fmla="*/ 468404 h 497996"/>
                  <a:gd name="connsiteX3" fmla="*/ 0 w 650819"/>
                  <a:gd name="connsiteY3" fmla="*/ 13999 h 497996"/>
                  <a:gd name="connsiteX4" fmla="*/ 650819 w 650819"/>
                  <a:gd name="connsiteY4" fmla="*/ 0 h 497996"/>
                  <a:gd name="connsiteX0" fmla="*/ 650819 w 650819"/>
                  <a:gd name="connsiteY0" fmla="*/ 0 h 497996"/>
                  <a:gd name="connsiteX1" fmla="*/ 589700 w 650819"/>
                  <a:gd name="connsiteY1" fmla="*/ 471204 h 497996"/>
                  <a:gd name="connsiteX2" fmla="*/ 75586 w 650819"/>
                  <a:gd name="connsiteY2" fmla="*/ 468404 h 497996"/>
                  <a:gd name="connsiteX3" fmla="*/ 0 w 650819"/>
                  <a:gd name="connsiteY3" fmla="*/ 13999 h 497996"/>
                  <a:gd name="connsiteX4" fmla="*/ 650819 w 650819"/>
                  <a:gd name="connsiteY4" fmla="*/ 0 h 497996"/>
                  <a:gd name="connsiteX0" fmla="*/ 650819 w 650819"/>
                  <a:gd name="connsiteY0" fmla="*/ 0 h 497996"/>
                  <a:gd name="connsiteX1" fmla="*/ 578501 w 650819"/>
                  <a:gd name="connsiteY1" fmla="*/ 471204 h 497996"/>
                  <a:gd name="connsiteX2" fmla="*/ 75586 w 650819"/>
                  <a:gd name="connsiteY2" fmla="*/ 468404 h 497996"/>
                  <a:gd name="connsiteX3" fmla="*/ 0 w 650819"/>
                  <a:gd name="connsiteY3" fmla="*/ 13999 h 497996"/>
                  <a:gd name="connsiteX4" fmla="*/ 650819 w 650819"/>
                  <a:gd name="connsiteY4" fmla="*/ 0 h 497996"/>
                  <a:gd name="connsiteX0" fmla="*/ 650819 w 650819"/>
                  <a:gd name="connsiteY0" fmla="*/ 0 h 497996"/>
                  <a:gd name="connsiteX1" fmla="*/ 578501 w 650819"/>
                  <a:gd name="connsiteY1" fmla="*/ 471204 h 497996"/>
                  <a:gd name="connsiteX2" fmla="*/ 75586 w 650819"/>
                  <a:gd name="connsiteY2" fmla="*/ 468404 h 497996"/>
                  <a:gd name="connsiteX3" fmla="*/ 0 w 650819"/>
                  <a:gd name="connsiteY3" fmla="*/ 13999 h 497996"/>
                  <a:gd name="connsiteX4" fmla="*/ 650819 w 650819"/>
                  <a:gd name="connsiteY4" fmla="*/ 0 h 497996"/>
                  <a:gd name="connsiteX0" fmla="*/ 659218 w 659218"/>
                  <a:gd name="connsiteY0" fmla="*/ 0 h 497996"/>
                  <a:gd name="connsiteX1" fmla="*/ 578501 w 659218"/>
                  <a:gd name="connsiteY1" fmla="*/ 471204 h 497996"/>
                  <a:gd name="connsiteX2" fmla="*/ 75586 w 659218"/>
                  <a:gd name="connsiteY2" fmla="*/ 468404 h 497996"/>
                  <a:gd name="connsiteX3" fmla="*/ 0 w 659218"/>
                  <a:gd name="connsiteY3" fmla="*/ 13999 h 497996"/>
                  <a:gd name="connsiteX4" fmla="*/ 659218 w 659218"/>
                  <a:gd name="connsiteY4" fmla="*/ 0 h 497996"/>
                  <a:gd name="connsiteX0" fmla="*/ 659218 w 659218"/>
                  <a:gd name="connsiteY0" fmla="*/ 0 h 497996"/>
                  <a:gd name="connsiteX1" fmla="*/ 578501 w 659218"/>
                  <a:gd name="connsiteY1" fmla="*/ 471204 h 497996"/>
                  <a:gd name="connsiteX2" fmla="*/ 75586 w 659218"/>
                  <a:gd name="connsiteY2" fmla="*/ 468404 h 497996"/>
                  <a:gd name="connsiteX3" fmla="*/ 0 w 659218"/>
                  <a:gd name="connsiteY3" fmla="*/ 13999 h 497996"/>
                  <a:gd name="connsiteX4" fmla="*/ 659218 w 659218"/>
                  <a:gd name="connsiteY4" fmla="*/ 0 h 497996"/>
                  <a:gd name="connsiteX0" fmla="*/ 659218 w 659218"/>
                  <a:gd name="connsiteY0" fmla="*/ 0 h 499257"/>
                  <a:gd name="connsiteX1" fmla="*/ 595028 w 659218"/>
                  <a:gd name="connsiteY1" fmla="*/ 473565 h 499257"/>
                  <a:gd name="connsiteX2" fmla="*/ 75586 w 659218"/>
                  <a:gd name="connsiteY2" fmla="*/ 468404 h 499257"/>
                  <a:gd name="connsiteX3" fmla="*/ 0 w 659218"/>
                  <a:gd name="connsiteY3" fmla="*/ 13999 h 499257"/>
                  <a:gd name="connsiteX4" fmla="*/ 659218 w 659218"/>
                  <a:gd name="connsiteY4" fmla="*/ 0 h 499257"/>
                  <a:gd name="connsiteX0" fmla="*/ 659218 w 659218"/>
                  <a:gd name="connsiteY0" fmla="*/ 0 h 499257"/>
                  <a:gd name="connsiteX1" fmla="*/ 595028 w 659218"/>
                  <a:gd name="connsiteY1" fmla="*/ 473565 h 499257"/>
                  <a:gd name="connsiteX2" fmla="*/ 75586 w 659218"/>
                  <a:gd name="connsiteY2" fmla="*/ 468404 h 499257"/>
                  <a:gd name="connsiteX3" fmla="*/ 0 w 659218"/>
                  <a:gd name="connsiteY3" fmla="*/ 13999 h 499257"/>
                  <a:gd name="connsiteX4" fmla="*/ 659218 w 659218"/>
                  <a:gd name="connsiteY4" fmla="*/ 0 h 499257"/>
                  <a:gd name="connsiteX0" fmla="*/ 659218 w 659218"/>
                  <a:gd name="connsiteY0" fmla="*/ 0 h 499257"/>
                  <a:gd name="connsiteX1" fmla="*/ 595028 w 659218"/>
                  <a:gd name="connsiteY1" fmla="*/ 473565 h 499257"/>
                  <a:gd name="connsiteX2" fmla="*/ 75586 w 659218"/>
                  <a:gd name="connsiteY2" fmla="*/ 468404 h 499257"/>
                  <a:gd name="connsiteX3" fmla="*/ 0 w 659218"/>
                  <a:gd name="connsiteY3" fmla="*/ 13999 h 499257"/>
                  <a:gd name="connsiteX4" fmla="*/ 659218 w 659218"/>
                  <a:gd name="connsiteY4" fmla="*/ 0 h 499257"/>
                  <a:gd name="connsiteX0" fmla="*/ 659218 w 659218"/>
                  <a:gd name="connsiteY0" fmla="*/ 0 h 499257"/>
                  <a:gd name="connsiteX1" fmla="*/ 595028 w 659218"/>
                  <a:gd name="connsiteY1" fmla="*/ 473565 h 499257"/>
                  <a:gd name="connsiteX2" fmla="*/ 75586 w 659218"/>
                  <a:gd name="connsiteY2" fmla="*/ 468404 h 499257"/>
                  <a:gd name="connsiteX3" fmla="*/ 0 w 659218"/>
                  <a:gd name="connsiteY3" fmla="*/ 13999 h 499257"/>
                  <a:gd name="connsiteX4" fmla="*/ 659218 w 659218"/>
                  <a:gd name="connsiteY4" fmla="*/ 0 h 499257"/>
                  <a:gd name="connsiteX0" fmla="*/ 654496 w 654496"/>
                  <a:gd name="connsiteY0" fmla="*/ 0 h 499257"/>
                  <a:gd name="connsiteX1" fmla="*/ 595028 w 654496"/>
                  <a:gd name="connsiteY1" fmla="*/ 473565 h 499257"/>
                  <a:gd name="connsiteX2" fmla="*/ 75586 w 654496"/>
                  <a:gd name="connsiteY2" fmla="*/ 468404 h 499257"/>
                  <a:gd name="connsiteX3" fmla="*/ 0 w 654496"/>
                  <a:gd name="connsiteY3" fmla="*/ 13999 h 499257"/>
                  <a:gd name="connsiteX4" fmla="*/ 654496 w 654496"/>
                  <a:gd name="connsiteY4" fmla="*/ 0 h 499257"/>
                  <a:gd name="connsiteX0" fmla="*/ 654496 w 654496"/>
                  <a:gd name="connsiteY0" fmla="*/ 0 h 499257"/>
                  <a:gd name="connsiteX1" fmla="*/ 595028 w 654496"/>
                  <a:gd name="connsiteY1" fmla="*/ 473565 h 499257"/>
                  <a:gd name="connsiteX2" fmla="*/ 75586 w 654496"/>
                  <a:gd name="connsiteY2" fmla="*/ 468404 h 499257"/>
                  <a:gd name="connsiteX3" fmla="*/ 0 w 654496"/>
                  <a:gd name="connsiteY3" fmla="*/ 13999 h 499257"/>
                  <a:gd name="connsiteX4" fmla="*/ 654496 w 654496"/>
                  <a:gd name="connsiteY4" fmla="*/ 0 h 499257"/>
                  <a:gd name="connsiteX0" fmla="*/ 654496 w 654496"/>
                  <a:gd name="connsiteY0" fmla="*/ 0 h 499257"/>
                  <a:gd name="connsiteX1" fmla="*/ 595028 w 654496"/>
                  <a:gd name="connsiteY1" fmla="*/ 473565 h 499257"/>
                  <a:gd name="connsiteX2" fmla="*/ 75586 w 654496"/>
                  <a:gd name="connsiteY2" fmla="*/ 468404 h 499257"/>
                  <a:gd name="connsiteX3" fmla="*/ 0 w 654496"/>
                  <a:gd name="connsiteY3" fmla="*/ 13999 h 499257"/>
                  <a:gd name="connsiteX4" fmla="*/ 654496 w 654496"/>
                  <a:gd name="connsiteY4" fmla="*/ 0 h 499257"/>
                  <a:gd name="connsiteX0" fmla="*/ 659218 w 659218"/>
                  <a:gd name="connsiteY0" fmla="*/ 0 h 494535"/>
                  <a:gd name="connsiteX1" fmla="*/ 595028 w 659218"/>
                  <a:gd name="connsiteY1" fmla="*/ 468843 h 494535"/>
                  <a:gd name="connsiteX2" fmla="*/ 75586 w 659218"/>
                  <a:gd name="connsiteY2" fmla="*/ 463682 h 494535"/>
                  <a:gd name="connsiteX3" fmla="*/ 0 w 659218"/>
                  <a:gd name="connsiteY3" fmla="*/ 9277 h 494535"/>
                  <a:gd name="connsiteX4" fmla="*/ 659218 w 659218"/>
                  <a:gd name="connsiteY4" fmla="*/ 0 h 494535"/>
                  <a:gd name="connsiteX0" fmla="*/ 659218 w 659218"/>
                  <a:gd name="connsiteY0" fmla="*/ 0 h 494535"/>
                  <a:gd name="connsiteX1" fmla="*/ 595028 w 659218"/>
                  <a:gd name="connsiteY1" fmla="*/ 468843 h 494535"/>
                  <a:gd name="connsiteX2" fmla="*/ 53517 w 659218"/>
                  <a:gd name="connsiteY2" fmla="*/ 463682 h 494535"/>
                  <a:gd name="connsiteX3" fmla="*/ 0 w 659218"/>
                  <a:gd name="connsiteY3" fmla="*/ 9277 h 494535"/>
                  <a:gd name="connsiteX4" fmla="*/ 659218 w 659218"/>
                  <a:gd name="connsiteY4" fmla="*/ 0 h 494535"/>
                  <a:gd name="connsiteX0" fmla="*/ 659218 w 659218"/>
                  <a:gd name="connsiteY0" fmla="*/ 0 h 492916"/>
                  <a:gd name="connsiteX1" fmla="*/ 613447 w 659218"/>
                  <a:gd name="connsiteY1" fmla="*/ 465793 h 492916"/>
                  <a:gd name="connsiteX2" fmla="*/ 53517 w 659218"/>
                  <a:gd name="connsiteY2" fmla="*/ 463682 h 492916"/>
                  <a:gd name="connsiteX3" fmla="*/ 0 w 659218"/>
                  <a:gd name="connsiteY3" fmla="*/ 9277 h 492916"/>
                  <a:gd name="connsiteX4" fmla="*/ 659218 w 659218"/>
                  <a:gd name="connsiteY4" fmla="*/ 0 h 492916"/>
                  <a:gd name="connsiteX0" fmla="*/ 659218 w 659218"/>
                  <a:gd name="connsiteY0" fmla="*/ 0 h 492916"/>
                  <a:gd name="connsiteX1" fmla="*/ 613447 w 659218"/>
                  <a:gd name="connsiteY1" fmla="*/ 465793 h 492916"/>
                  <a:gd name="connsiteX2" fmla="*/ 53517 w 659218"/>
                  <a:gd name="connsiteY2" fmla="*/ 463682 h 492916"/>
                  <a:gd name="connsiteX3" fmla="*/ 0 w 659218"/>
                  <a:gd name="connsiteY3" fmla="*/ 9277 h 492916"/>
                  <a:gd name="connsiteX4" fmla="*/ 659218 w 659218"/>
                  <a:gd name="connsiteY4" fmla="*/ 0 h 492916"/>
                  <a:gd name="connsiteX0" fmla="*/ 659218 w 659218"/>
                  <a:gd name="connsiteY0" fmla="*/ 0 h 492916"/>
                  <a:gd name="connsiteX1" fmla="*/ 613447 w 659218"/>
                  <a:gd name="connsiteY1" fmla="*/ 465793 h 492916"/>
                  <a:gd name="connsiteX2" fmla="*/ 53517 w 659218"/>
                  <a:gd name="connsiteY2" fmla="*/ 463682 h 492916"/>
                  <a:gd name="connsiteX3" fmla="*/ 0 w 659218"/>
                  <a:gd name="connsiteY3" fmla="*/ 9277 h 492916"/>
                  <a:gd name="connsiteX4" fmla="*/ 659218 w 659218"/>
                  <a:gd name="connsiteY4" fmla="*/ 0 h 492916"/>
                  <a:gd name="connsiteX0" fmla="*/ 659218 w 659218"/>
                  <a:gd name="connsiteY0" fmla="*/ 0 h 492916"/>
                  <a:gd name="connsiteX1" fmla="*/ 613447 w 659218"/>
                  <a:gd name="connsiteY1" fmla="*/ 465793 h 492916"/>
                  <a:gd name="connsiteX2" fmla="*/ 53517 w 659218"/>
                  <a:gd name="connsiteY2" fmla="*/ 463682 h 492916"/>
                  <a:gd name="connsiteX3" fmla="*/ 0 w 659218"/>
                  <a:gd name="connsiteY3" fmla="*/ 9277 h 492916"/>
                  <a:gd name="connsiteX4" fmla="*/ 659218 w 659218"/>
                  <a:gd name="connsiteY4" fmla="*/ 0 h 492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9218" h="492916">
                    <a:moveTo>
                      <a:pt x="659218" y="0"/>
                    </a:moveTo>
                    <a:cubicBezTo>
                      <a:pt x="635888" y="121652"/>
                      <a:pt x="625916" y="326467"/>
                      <a:pt x="613447" y="465793"/>
                    </a:cubicBezTo>
                    <a:cubicBezTo>
                      <a:pt x="426212" y="502805"/>
                      <a:pt x="253815" y="501781"/>
                      <a:pt x="53517" y="463682"/>
                    </a:cubicBezTo>
                    <a:cubicBezTo>
                      <a:pt x="42320" y="330877"/>
                      <a:pt x="29331" y="172877"/>
                      <a:pt x="0" y="9277"/>
                    </a:cubicBezTo>
                    <a:cubicBezTo>
                      <a:pt x="205349" y="69367"/>
                      <a:pt x="437149" y="67890"/>
                      <a:pt x="659218" y="0"/>
                    </a:cubicBezTo>
                    <a:close/>
                  </a:path>
                </a:pathLst>
              </a:custGeom>
              <a:solidFill>
                <a:srgbClr val="FF99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3EDFECA7-828D-C1A9-A5A5-A739C1878948}"/>
                  </a:ext>
                </a:extLst>
              </p:cNvPr>
              <p:cNvSpPr/>
              <p:nvPr/>
            </p:nvSpPr>
            <p:spPr>
              <a:xfrm>
                <a:off x="7208061" y="1403796"/>
                <a:ext cx="3349673" cy="972606"/>
              </a:xfrm>
              <a:prstGeom prst="ellipse">
                <a:avLst/>
              </a:prstGeom>
              <a:gradFill flip="none" rotWithShape="1">
                <a:gsLst>
                  <a:gs pos="75000">
                    <a:srgbClr val="0E5D90"/>
                  </a:gs>
                  <a:gs pos="0">
                    <a:srgbClr val="57B2EC">
                      <a:alpha val="47000"/>
                    </a:srgbClr>
                  </a:gs>
                  <a:gs pos="100000">
                    <a:srgbClr val="083A58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B54323B-C45E-013E-FB92-7E19B868E5C3}"/>
                </a:ext>
              </a:extLst>
            </p:cNvPr>
            <p:cNvSpPr txBox="1"/>
            <p:nvPr/>
          </p:nvSpPr>
          <p:spPr>
            <a:xfrm>
              <a:off x="1698100" y="2486162"/>
              <a:ext cx="530417" cy="45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/>
                <a:t>D</a:t>
              </a:r>
              <a:endParaRPr lang="en-US" sz="16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8E9BDD-5FE5-378D-3FA2-FFFA455FB86F}"/>
                </a:ext>
              </a:extLst>
            </p:cNvPr>
            <p:cNvSpPr txBox="1"/>
            <p:nvPr/>
          </p:nvSpPr>
          <p:spPr>
            <a:xfrm>
              <a:off x="1698100" y="3200400"/>
              <a:ext cx="530417" cy="45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/>
                <a:t>M</a:t>
              </a:r>
              <a:endParaRPr lang="en-US" sz="16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BDFFD92-C4BE-828C-96B4-16C30BF48703}"/>
                </a:ext>
              </a:extLst>
            </p:cNvPr>
            <p:cNvSpPr txBox="1"/>
            <p:nvPr/>
          </p:nvSpPr>
          <p:spPr>
            <a:xfrm>
              <a:off x="1698100" y="3775282"/>
              <a:ext cx="530417" cy="45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/>
                <a:t>A</a:t>
              </a:r>
              <a:endParaRPr lang="en-US" sz="1600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20B22FD-E1BB-44E6-8861-A665B3594F95}"/>
                </a:ext>
              </a:extLst>
            </p:cNvPr>
            <p:cNvSpPr txBox="1"/>
            <p:nvPr/>
          </p:nvSpPr>
          <p:spPr>
            <a:xfrm>
              <a:off x="1698100" y="4343401"/>
              <a:ext cx="530417" cy="45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/>
                <a:t>I</a:t>
              </a:r>
              <a:endParaRPr lang="en-US" sz="1600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E3FE9D-96FD-8D35-988F-F4449157D54A}"/>
                </a:ext>
              </a:extLst>
            </p:cNvPr>
            <p:cNvSpPr txBox="1"/>
            <p:nvPr/>
          </p:nvSpPr>
          <p:spPr>
            <a:xfrm>
              <a:off x="1698100" y="4782296"/>
              <a:ext cx="530417" cy="45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/>
                <a:t>C</a:t>
              </a:r>
              <a:endParaRPr lang="en-US" sz="1600" b="1" dirty="0"/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D01DF9D9-FA49-E1DF-76D2-6164C8CC0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897" y="1675281"/>
            <a:ext cx="518205" cy="106689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1154810-8B93-8D99-5353-BD46A43AC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824" y="5105400"/>
            <a:ext cx="518205" cy="117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186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929A755-8E74-4FE9-8943-E629FF75E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Process Map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1236A83C-80A0-4793-BD42-BA80BCFDD7F6}"/>
              </a:ext>
            </a:extLst>
          </p:cNvPr>
          <p:cNvSpPr/>
          <p:nvPr/>
        </p:nvSpPr>
        <p:spPr bwMode="auto">
          <a:xfrm rot="5400000">
            <a:off x="8373947" y="2820410"/>
            <a:ext cx="199241" cy="274064"/>
          </a:xfrm>
          <a:prstGeom prst="chevron">
            <a:avLst/>
          </a:prstGeom>
          <a:solidFill>
            <a:srgbClr val="5EB1E3"/>
          </a:solidFill>
          <a:ln w="31750">
            <a:noFill/>
            <a:miter lim="800000"/>
            <a:headEnd/>
            <a:tailEnd/>
          </a:ln>
        </p:spPr>
        <p:txBody>
          <a:bodyPr wrap="square" rtlCol="0" anchor="ctr">
            <a:prstTxWarp prst="textNoShape">
              <a:avLst/>
            </a:prstTxWarp>
            <a:noAutofit/>
          </a:bodyPr>
          <a:lstStyle/>
          <a:p>
            <a:pPr algn="l"/>
            <a:endParaRPr lang="en-US" dirty="0"/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6059D175-0F76-4400-A385-E45BE39FEF40}"/>
              </a:ext>
            </a:extLst>
          </p:cNvPr>
          <p:cNvSpPr/>
          <p:nvPr/>
        </p:nvSpPr>
        <p:spPr bwMode="auto">
          <a:xfrm rot="5400000">
            <a:off x="8373947" y="4352001"/>
            <a:ext cx="199241" cy="274064"/>
          </a:xfrm>
          <a:prstGeom prst="chevron">
            <a:avLst/>
          </a:prstGeom>
          <a:solidFill>
            <a:srgbClr val="5EB1E3"/>
          </a:solidFill>
          <a:ln w="31750">
            <a:noFill/>
            <a:miter lim="800000"/>
            <a:headEnd/>
            <a:tailEnd/>
          </a:ln>
        </p:spPr>
        <p:txBody>
          <a:bodyPr wrap="square" rtlCol="0" anchor="ctr">
            <a:prstTxWarp prst="textNoShape">
              <a:avLst/>
            </a:prstTxWarp>
            <a:noAutofit/>
          </a:bodyPr>
          <a:lstStyle/>
          <a:p>
            <a:pPr algn="l"/>
            <a:endParaRPr lang="en-US" dirty="0"/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34901B80-A4F5-4E4E-899F-C688D4E9084F}"/>
              </a:ext>
            </a:extLst>
          </p:cNvPr>
          <p:cNvSpPr/>
          <p:nvPr/>
        </p:nvSpPr>
        <p:spPr bwMode="auto">
          <a:xfrm rot="5400000">
            <a:off x="8373947" y="6011747"/>
            <a:ext cx="199241" cy="274064"/>
          </a:xfrm>
          <a:prstGeom prst="chevron">
            <a:avLst/>
          </a:prstGeom>
          <a:solidFill>
            <a:srgbClr val="5EB1E3"/>
          </a:solidFill>
          <a:ln w="31750">
            <a:noFill/>
            <a:miter lim="800000"/>
            <a:headEnd/>
            <a:tailEnd/>
          </a:ln>
        </p:spPr>
        <p:txBody>
          <a:bodyPr wrap="square" rtlCol="0" anchor="ctr">
            <a:prstTxWarp prst="textNoShape">
              <a:avLst/>
            </a:prstTxWarp>
            <a:noAutofit/>
          </a:bodyPr>
          <a:lstStyle/>
          <a:p>
            <a:pPr algn="l"/>
            <a:endParaRPr lang="en-US" dirty="0"/>
          </a:p>
        </p:txBody>
      </p:sp>
      <p:graphicFrame>
        <p:nvGraphicFramePr>
          <p:cNvPr id="14" name="Table 11">
            <a:extLst>
              <a:ext uri="{FF2B5EF4-FFF2-40B4-BE49-F238E27FC236}">
                <a16:creationId xmlns:a16="http://schemas.microsoft.com/office/drawing/2014/main" id="{FBE4C352-6A7A-4DF3-8C11-534502901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475985"/>
              </p:ext>
            </p:extLst>
          </p:nvPr>
        </p:nvGraphicFramePr>
        <p:xfrm>
          <a:off x="10591800" y="441081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B7113A7-078D-3D1D-5A18-0DB138509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942" y="924911"/>
            <a:ext cx="7022115" cy="522386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17865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929A755-8E74-4FE9-8943-E629FF75E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Process Map Cont.</a:t>
            </a:r>
          </a:p>
        </p:txBody>
      </p:sp>
      <p:graphicFrame>
        <p:nvGraphicFramePr>
          <p:cNvPr id="14" name="Table 11">
            <a:extLst>
              <a:ext uri="{FF2B5EF4-FFF2-40B4-BE49-F238E27FC236}">
                <a16:creationId xmlns:a16="http://schemas.microsoft.com/office/drawing/2014/main" id="{FBE4C352-6A7A-4DF3-8C11-53450290166E}"/>
              </a:ext>
            </a:extLst>
          </p:cNvPr>
          <p:cNvGraphicFramePr>
            <a:graphicFrameLocks noGrp="1"/>
          </p:cNvGraphicFramePr>
          <p:nvPr/>
        </p:nvGraphicFramePr>
        <p:xfrm>
          <a:off x="10591800" y="441081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45D258C-AB96-E766-BFDF-3063718BE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70848"/>
            <a:ext cx="7934376" cy="598923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53512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929A755-8E74-4FE9-8943-E629FF75E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Process Map Cont.</a:t>
            </a:r>
          </a:p>
        </p:txBody>
      </p:sp>
      <p:graphicFrame>
        <p:nvGraphicFramePr>
          <p:cNvPr id="14" name="Table 11">
            <a:extLst>
              <a:ext uri="{FF2B5EF4-FFF2-40B4-BE49-F238E27FC236}">
                <a16:creationId xmlns:a16="http://schemas.microsoft.com/office/drawing/2014/main" id="{FBE4C352-6A7A-4DF3-8C11-53450290166E}"/>
              </a:ext>
            </a:extLst>
          </p:cNvPr>
          <p:cNvGraphicFramePr>
            <a:graphicFrameLocks noGrp="1"/>
          </p:cNvGraphicFramePr>
          <p:nvPr/>
        </p:nvGraphicFramePr>
        <p:xfrm>
          <a:off x="10591800" y="441081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2F9E088-8EAF-6E7A-B67E-D9178F178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004643"/>
            <a:ext cx="9669134" cy="481254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55559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itle 2">
            <a:extLst>
              <a:ext uri="{FF2B5EF4-FFF2-40B4-BE49-F238E27FC236}">
                <a16:creationId xmlns:a16="http://schemas.microsoft.com/office/drawing/2014/main" id="{4A3C7B9D-452C-44A0-96D0-C3D555195C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18136"/>
            <a:ext cx="10972800" cy="563562"/>
          </a:xfrm>
        </p:spPr>
        <p:txBody>
          <a:bodyPr/>
          <a:lstStyle/>
          <a:p>
            <a:r>
              <a:rPr lang="en-US" dirty="0"/>
              <a:t>Measurement Systems Analysis</a:t>
            </a:r>
            <a:endParaRPr lang="en-US" altLang="en-US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B1F2EF3C-122A-49C5-9155-CECC3B88C8F6}"/>
              </a:ext>
            </a:extLst>
          </p:cNvPr>
          <p:cNvSpPr txBox="1">
            <a:spLocks/>
          </p:cNvSpPr>
          <p:nvPr/>
        </p:nvSpPr>
        <p:spPr>
          <a:xfrm>
            <a:off x="172318" y="1105238"/>
            <a:ext cx="4059354" cy="514316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b="1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</a:pPr>
            <a:endParaRPr lang="en-US" sz="14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14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1400" dirty="0"/>
          </a:p>
        </p:txBody>
      </p:sp>
      <p:graphicFrame>
        <p:nvGraphicFramePr>
          <p:cNvPr id="15" name="Table 11">
            <a:extLst>
              <a:ext uri="{FF2B5EF4-FFF2-40B4-BE49-F238E27FC236}">
                <a16:creationId xmlns:a16="http://schemas.microsoft.com/office/drawing/2014/main" id="{D20EA374-4E64-45AF-BB64-93FD4E690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735703"/>
              </p:ext>
            </p:extLst>
          </p:nvPr>
        </p:nvGraphicFramePr>
        <p:xfrm>
          <a:off x="10591800" y="441081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076B7CB-3349-47BB-76F7-D3055286FABD}"/>
              </a:ext>
            </a:extLst>
          </p:cNvPr>
          <p:cNvSpPr txBox="1"/>
          <p:nvPr/>
        </p:nvSpPr>
        <p:spPr>
          <a:xfrm>
            <a:off x="381000" y="1143000"/>
            <a:ext cx="11633200" cy="2897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/>
              <a:t>Msf</a:t>
            </a:r>
            <a:r>
              <a:rPr lang="en-US" sz="2400" b="1" dirty="0"/>
              <a:t>/</a:t>
            </a:r>
            <a:r>
              <a:rPr lang="en-US" sz="2400" b="1" dirty="0" err="1"/>
              <a:t>MachineHr</a:t>
            </a:r>
            <a:r>
              <a:rPr lang="en-US" sz="2400" b="1" dirty="0"/>
              <a:t> : Data from CTI/EFI was audited with simple calculation and observing. System calculates the data using the kicks/hour, total pieces in the order, and total time the machine is scheduled. These values were audited and confirmed to be correct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Downtime data did not appear to be accurate, so it was excluded from the project.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Set up time data did not appear to be accurate, so it was excluded from the project.</a:t>
            </a:r>
          </a:p>
        </p:txBody>
      </p:sp>
    </p:spTree>
    <p:extLst>
      <p:ext uri="{BB962C8B-B14F-4D97-AF65-F5344CB8AC3E}">
        <p14:creationId xmlns:p14="http://schemas.microsoft.com/office/powerpoint/2010/main" val="1736539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F6F05E-38A8-31DD-D7B9-FA4245729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64" y="838200"/>
            <a:ext cx="5791200" cy="473430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7D6FE9-9900-9F2E-313B-3F481BCC0F27}"/>
              </a:ext>
            </a:extLst>
          </p:cNvPr>
          <p:cNvSpPr txBox="1"/>
          <p:nvPr/>
        </p:nvSpPr>
        <p:spPr>
          <a:xfrm>
            <a:off x="1676400" y="152400"/>
            <a:ext cx="9525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E5D90"/>
                </a:solidFill>
              </a:rPr>
              <a:t>Process Charts Before Project (</a:t>
            </a:r>
            <a:r>
              <a:rPr lang="en-US" sz="2800" b="1" dirty="0" err="1">
                <a:solidFill>
                  <a:srgbClr val="0E5D90"/>
                </a:solidFill>
              </a:rPr>
              <a:t>Msf</a:t>
            </a:r>
            <a:r>
              <a:rPr lang="en-US" sz="2800" b="1" dirty="0">
                <a:solidFill>
                  <a:srgbClr val="0E5D90"/>
                </a:solidFill>
              </a:rPr>
              <a:t>/</a:t>
            </a:r>
            <a:r>
              <a:rPr lang="en-US" sz="2800" b="1" dirty="0" err="1">
                <a:solidFill>
                  <a:srgbClr val="0E5D90"/>
                </a:solidFill>
              </a:rPr>
              <a:t>MachineHr</a:t>
            </a:r>
            <a:r>
              <a:rPr lang="en-US" sz="2800" b="1" dirty="0">
                <a:solidFill>
                  <a:srgbClr val="0E5D90"/>
                </a:solidFill>
              </a:rPr>
              <a:t> vs Week)</a:t>
            </a:r>
          </a:p>
        </p:txBody>
      </p:sp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BC1E5BF0-A38E-AE8E-8AE6-EC6029680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756666"/>
              </p:ext>
            </p:extLst>
          </p:nvPr>
        </p:nvGraphicFramePr>
        <p:xfrm>
          <a:off x="10591800" y="441081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5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3892E23-6E2F-6329-3C52-D6BE3CBBD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116" y="1219200"/>
            <a:ext cx="5817280" cy="416058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01546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A890C8-1163-939F-E771-C2F3F8121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28600"/>
            <a:ext cx="7965032" cy="6172200"/>
          </a:xfrm>
          <a:prstGeom prst="rect">
            <a:avLst/>
          </a:prstGeom>
        </p:spPr>
      </p:pic>
      <p:graphicFrame>
        <p:nvGraphicFramePr>
          <p:cNvPr id="10" name="Table 11">
            <a:extLst>
              <a:ext uri="{FF2B5EF4-FFF2-40B4-BE49-F238E27FC236}">
                <a16:creationId xmlns:a16="http://schemas.microsoft.com/office/drawing/2014/main" id="{034D6936-5551-15E8-13EE-B77E06E6D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291355"/>
              </p:ext>
            </p:extLst>
          </p:nvPr>
        </p:nvGraphicFramePr>
        <p:xfrm>
          <a:off x="10588146" y="440023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9624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FB1C65-154E-DC44-42E6-6794C3D4D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209800"/>
            <a:ext cx="8250103" cy="339482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B53AE3-9336-02CB-D9E5-B468BDE60D97}"/>
              </a:ext>
            </a:extLst>
          </p:cNvPr>
          <p:cNvSpPr txBox="1"/>
          <p:nvPr/>
        </p:nvSpPr>
        <p:spPr>
          <a:xfrm>
            <a:off x="3439251" y="441081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E5D90"/>
                </a:solidFill>
              </a:rPr>
              <a:t>Cause and Effects Matrix Cont.</a:t>
            </a:r>
          </a:p>
        </p:txBody>
      </p:sp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8EFFDDD0-FB17-3E87-ABC6-2D7B06E98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291355"/>
              </p:ext>
            </p:extLst>
          </p:nvPr>
        </p:nvGraphicFramePr>
        <p:xfrm>
          <a:off x="10588146" y="440023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3142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B283D-23C6-41EE-AAC9-26CE4A75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FMEA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FC2FCD-F92F-91D6-98CE-42DC297CA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81698"/>
            <a:ext cx="8839200" cy="569530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graphicFrame>
        <p:nvGraphicFramePr>
          <p:cNvPr id="7" name="Table 11">
            <a:extLst>
              <a:ext uri="{FF2B5EF4-FFF2-40B4-BE49-F238E27FC236}">
                <a16:creationId xmlns:a16="http://schemas.microsoft.com/office/drawing/2014/main" id="{6459B704-5BED-1A02-6AB5-8263AA313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291355"/>
              </p:ext>
            </p:extLst>
          </p:nvPr>
        </p:nvGraphicFramePr>
        <p:xfrm>
          <a:off x="10588146" y="440023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0413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B283D-23C6-41EE-AAC9-26CE4A75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FMEA Cont.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EDC780-C1DE-A0C9-F7BE-05BAA2188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15" y="807638"/>
            <a:ext cx="8595769" cy="535326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3731381A-53D0-69D4-6338-3CAB2BB8F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291355"/>
              </p:ext>
            </p:extLst>
          </p:nvPr>
        </p:nvGraphicFramePr>
        <p:xfrm>
          <a:off x="10588146" y="440023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3483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59606-0A03-77FE-2147-0DF70F01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Waste Walk – Set ups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64D191-D033-9490-628E-5A03732F9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589" y="914400"/>
            <a:ext cx="9158821" cy="5537695"/>
          </a:xfrm>
          <a:prstGeom prst="rect">
            <a:avLst/>
          </a:prstGeom>
        </p:spPr>
      </p:pic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0F693E4A-EADD-5771-9910-4DB160C52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291355"/>
              </p:ext>
            </p:extLst>
          </p:nvPr>
        </p:nvGraphicFramePr>
        <p:xfrm>
          <a:off x="10588146" y="440023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741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828F3-AA7D-1E26-CCC9-C0D44FF42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3017"/>
            <a:ext cx="10972800" cy="563562"/>
          </a:xfrm>
        </p:spPr>
        <p:txBody>
          <a:bodyPr/>
          <a:lstStyle/>
          <a:p>
            <a:r>
              <a:rPr lang="en-US" dirty="0"/>
              <a:t>Spaghetti Diagram Showing Wasted Motion of Crew During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0A776C-80FC-FAA6-848F-6E05FF722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83" y="990600"/>
            <a:ext cx="6762789" cy="4583106"/>
          </a:xfrm>
          <a:prstGeom prst="rect">
            <a:avLst/>
          </a:prstGeom>
        </p:spPr>
      </p:pic>
      <p:graphicFrame>
        <p:nvGraphicFramePr>
          <p:cNvPr id="5" name="Table 11">
            <a:extLst>
              <a:ext uri="{FF2B5EF4-FFF2-40B4-BE49-F238E27FC236}">
                <a16:creationId xmlns:a16="http://schemas.microsoft.com/office/drawing/2014/main" id="{B37C7674-A3CE-7F98-4C2B-D66217416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802585"/>
              </p:ext>
            </p:extLst>
          </p:nvPr>
        </p:nvGraphicFramePr>
        <p:xfrm>
          <a:off x="10588146" y="440023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CE6B440-D97F-76E5-B099-831FBCDB27F1}"/>
              </a:ext>
            </a:extLst>
          </p:cNvPr>
          <p:cNvSpPr txBox="1"/>
          <p:nvPr/>
        </p:nvSpPr>
        <p:spPr>
          <a:xfrm>
            <a:off x="7772400" y="990600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Procedure was created and Controlled. SOP was created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9EDB14-7298-9DFE-96D6-08F176D78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366" y="1977958"/>
            <a:ext cx="4721834" cy="32224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21365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00E3E-6F17-4F6F-A612-65A008DBF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228" y="179952"/>
            <a:ext cx="10972800" cy="563562"/>
          </a:xfrm>
        </p:spPr>
        <p:txBody>
          <a:bodyPr/>
          <a:lstStyle/>
          <a:p>
            <a:r>
              <a:rPr lang="en-GB" dirty="0"/>
              <a:t>Root Cause Analysis: Cause &amp; Effect Diagram </a:t>
            </a:r>
            <a:endParaRPr lang="en-US" dirty="0"/>
          </a:p>
        </p:txBody>
      </p:sp>
      <p:graphicFrame>
        <p:nvGraphicFramePr>
          <p:cNvPr id="44" name="Table 11">
            <a:extLst>
              <a:ext uri="{FF2B5EF4-FFF2-40B4-BE49-F238E27FC236}">
                <a16:creationId xmlns:a16="http://schemas.microsoft.com/office/drawing/2014/main" id="{C30145A3-FEE4-4F21-AD29-3AD337FB2B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303967"/>
              </p:ext>
            </p:extLst>
          </p:nvPr>
        </p:nvGraphicFramePr>
        <p:xfrm>
          <a:off x="10668000" y="440023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1" name="Picture 40">
            <a:extLst>
              <a:ext uri="{FF2B5EF4-FFF2-40B4-BE49-F238E27FC236}">
                <a16:creationId xmlns:a16="http://schemas.microsoft.com/office/drawing/2014/main" id="{A73D9AB5-A5F0-D412-ACAB-29CDCE27A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49" y="940448"/>
            <a:ext cx="11268701" cy="497148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76045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71A7A2-0925-95C2-320C-AADAF0E566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3" r="-1" b="-1"/>
          <a:stretch/>
        </p:blipFill>
        <p:spPr>
          <a:xfrm>
            <a:off x="1066800" y="152400"/>
            <a:ext cx="10833100" cy="6096000"/>
          </a:xfrm>
          <a:prstGeom prst="rect">
            <a:avLst/>
          </a:prstGeom>
          <a:noFill/>
        </p:spPr>
      </p:pic>
      <p:graphicFrame>
        <p:nvGraphicFramePr>
          <p:cNvPr id="4" name="Table 11">
            <a:extLst>
              <a:ext uri="{FF2B5EF4-FFF2-40B4-BE49-F238E27FC236}">
                <a16:creationId xmlns:a16="http://schemas.microsoft.com/office/drawing/2014/main" id="{9C885822-B55B-DCDF-5B7F-7019CD6FD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16147"/>
              </p:ext>
            </p:extLst>
          </p:nvPr>
        </p:nvGraphicFramePr>
        <p:xfrm>
          <a:off x="10668000" y="440023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6426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71A4A-5149-7F17-4A67-AEBC052B0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E5D90"/>
                </a:solidFill>
              </a:rPr>
              <a:t>Modeling Bundle Breaker Cont.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64899E-B1C1-5249-A7F8-33E1E269B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02" y="1143000"/>
            <a:ext cx="10569623" cy="502941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graphicFrame>
        <p:nvGraphicFramePr>
          <p:cNvPr id="7" name="Table 11">
            <a:extLst>
              <a:ext uri="{FF2B5EF4-FFF2-40B4-BE49-F238E27FC236}">
                <a16:creationId xmlns:a16="http://schemas.microsoft.com/office/drawing/2014/main" id="{7126CB85-681C-FDB2-ABC4-13C5826BA7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171150"/>
              </p:ext>
            </p:extLst>
          </p:nvPr>
        </p:nvGraphicFramePr>
        <p:xfrm>
          <a:off x="10668000" y="440023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4146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49701E-B847-413E-9135-4D7E8CD14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50" y="923147"/>
            <a:ext cx="10833100" cy="536238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02CFE284-465D-0451-FA6C-224060564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209861"/>
              </p:ext>
            </p:extLst>
          </p:nvPr>
        </p:nvGraphicFramePr>
        <p:xfrm>
          <a:off x="10668000" y="440023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4B971D0-7953-6343-E0DD-07956EF4057F}"/>
              </a:ext>
            </a:extLst>
          </p:cNvPr>
          <p:cNvSpPr txBox="1"/>
          <p:nvPr/>
        </p:nvSpPr>
        <p:spPr>
          <a:xfrm>
            <a:off x="101600" y="572470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E5D90"/>
                </a:solidFill>
              </a:rPr>
              <a:t>Pareto Chart shows top three downtimes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3903A1-6FBB-1EA6-6C17-E37774C282B9}"/>
              </a:ext>
            </a:extLst>
          </p:cNvPr>
          <p:cNvSpPr txBox="1"/>
          <p:nvPr/>
        </p:nvSpPr>
        <p:spPr>
          <a:xfrm>
            <a:off x="4191000" y="360132"/>
            <a:ext cx="601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E5D90"/>
                </a:solidFill>
              </a:rPr>
              <a:t>Machine Downtime Analysis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564258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BC32C-0BF0-5028-E9A3-7A950407E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E5D90"/>
                </a:solidFill>
              </a:rPr>
              <a:t>Questions/Conclusions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024E12-22C6-3986-76BC-B085D24BF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520" y="962227"/>
            <a:ext cx="9856959" cy="493354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graphicFrame>
        <p:nvGraphicFramePr>
          <p:cNvPr id="7" name="Table 11">
            <a:extLst>
              <a:ext uri="{FF2B5EF4-FFF2-40B4-BE49-F238E27FC236}">
                <a16:creationId xmlns:a16="http://schemas.microsoft.com/office/drawing/2014/main" id="{20F3905F-C382-A291-332A-1760527E1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171150"/>
              </p:ext>
            </p:extLst>
          </p:nvPr>
        </p:nvGraphicFramePr>
        <p:xfrm>
          <a:off x="10668000" y="440023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0642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D4478D8-B00C-4F2F-B07E-B192F8D13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18136"/>
            <a:ext cx="10972800" cy="563562"/>
          </a:xfrm>
        </p:spPr>
        <p:txBody>
          <a:bodyPr/>
          <a:lstStyle/>
          <a:p>
            <a:pPr algn="ctr" eaLnBrk="1" hangingPunct="1">
              <a:lnSpc>
                <a:spcPct val="100000"/>
              </a:lnSpc>
            </a:pPr>
            <a:r>
              <a:rPr lang="en-US" altLang="en-US" dirty="0"/>
              <a:t>Improvement Plan</a:t>
            </a:r>
          </a:p>
        </p:txBody>
      </p:sp>
      <p:graphicFrame>
        <p:nvGraphicFramePr>
          <p:cNvPr id="10" name="Table 11">
            <a:extLst>
              <a:ext uri="{FF2B5EF4-FFF2-40B4-BE49-F238E27FC236}">
                <a16:creationId xmlns:a16="http://schemas.microsoft.com/office/drawing/2014/main" id="{24E50C81-DF9C-4AE3-AD8E-CA10AC2324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589971"/>
              </p:ext>
            </p:extLst>
          </p:nvPr>
        </p:nvGraphicFramePr>
        <p:xfrm>
          <a:off x="10591800" y="441081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7D9C68E-C152-FDFF-DD3E-7218E7CAF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673329"/>
            <a:ext cx="7772400" cy="609988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372456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2B4D125-1141-45DB-9696-B9122679B642}"/>
              </a:ext>
            </a:extLst>
          </p:cNvPr>
          <p:cNvSpPr txBox="1">
            <a:spLocks/>
          </p:cNvSpPr>
          <p:nvPr/>
        </p:nvSpPr>
        <p:spPr>
          <a:xfrm>
            <a:off x="3124200" y="781698"/>
            <a:ext cx="1814695" cy="63976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b="1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defTabSz="914400">
              <a:buNone/>
            </a:pPr>
            <a:r>
              <a:rPr lang="en-GB" kern="0" dirty="0"/>
              <a:t>BEFORE</a:t>
            </a:r>
            <a:endParaRPr lang="en-US" kern="0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E5D85171-63FB-41B5-913F-78D29E63A9B4}"/>
              </a:ext>
            </a:extLst>
          </p:cNvPr>
          <p:cNvSpPr txBox="1">
            <a:spLocks/>
          </p:cNvSpPr>
          <p:nvPr/>
        </p:nvSpPr>
        <p:spPr>
          <a:xfrm>
            <a:off x="7687935" y="760962"/>
            <a:ext cx="1483573" cy="63976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b="1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defTabSz="914400">
              <a:buNone/>
            </a:pPr>
            <a:r>
              <a:rPr lang="en-GB" kern="0" dirty="0"/>
              <a:t>AFTER</a:t>
            </a:r>
            <a:endParaRPr lang="en-US" kern="0" dirty="0"/>
          </a:p>
        </p:txBody>
      </p:sp>
      <p:sp>
        <p:nvSpPr>
          <p:cNvPr id="17411" name="Title 2">
            <a:extLst>
              <a:ext uri="{FF2B5EF4-FFF2-40B4-BE49-F238E27FC236}">
                <a16:creationId xmlns:a16="http://schemas.microsoft.com/office/drawing/2014/main" id="{4A3C7B9D-452C-44A0-96D0-C3D555195C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18136"/>
            <a:ext cx="10972800" cy="563562"/>
          </a:xfrm>
        </p:spPr>
        <p:txBody>
          <a:bodyPr/>
          <a:lstStyle/>
          <a:p>
            <a:r>
              <a:rPr lang="en-GB" dirty="0"/>
              <a:t>Improved Process</a:t>
            </a:r>
            <a:endParaRPr lang="en-US" altLang="en-US" dirty="0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ADEAC033-EE61-4B57-8453-F1E7BC3AB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589971"/>
              </p:ext>
            </p:extLst>
          </p:nvPr>
        </p:nvGraphicFramePr>
        <p:xfrm>
          <a:off x="10591800" y="441081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7CE3FBB-C743-EAE6-5CD0-F55752C22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513" y="1157418"/>
            <a:ext cx="7350973" cy="566920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B99557-CCED-B65E-D3C2-12678A21D11A}"/>
              </a:ext>
            </a:extLst>
          </p:cNvPr>
          <p:cNvSpPr txBox="1"/>
          <p:nvPr/>
        </p:nvSpPr>
        <p:spPr>
          <a:xfrm>
            <a:off x="99821" y="1582340"/>
            <a:ext cx="232069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E5D90"/>
                </a:solidFill>
              </a:rPr>
              <a:t>Shows month over month of average </a:t>
            </a:r>
            <a:r>
              <a:rPr lang="en-US" b="1" dirty="0" err="1">
                <a:solidFill>
                  <a:srgbClr val="0E5D90"/>
                </a:solidFill>
              </a:rPr>
              <a:t>Msf</a:t>
            </a:r>
            <a:r>
              <a:rPr lang="en-US" b="1" dirty="0">
                <a:solidFill>
                  <a:srgbClr val="0E5D90"/>
                </a:solidFill>
              </a:rPr>
              <a:t>/</a:t>
            </a:r>
            <a:r>
              <a:rPr lang="en-US" b="1" dirty="0" err="1">
                <a:solidFill>
                  <a:srgbClr val="0E5D90"/>
                </a:solidFill>
              </a:rPr>
              <a:t>MachHr</a:t>
            </a:r>
            <a:r>
              <a:rPr lang="en-US" b="1" dirty="0">
                <a:solidFill>
                  <a:srgbClr val="0E5D90"/>
                </a:solidFill>
              </a:rPr>
              <a:t> starting Jan 2022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E5D90"/>
                </a:solidFill>
              </a:rPr>
              <a:t>Monitoring (control) data was sampled once a month; Therefore, </a:t>
            </a:r>
            <a:r>
              <a:rPr lang="en-US" b="1" u="sng" dirty="0">
                <a:solidFill>
                  <a:srgbClr val="0E5D90"/>
                </a:solidFill>
              </a:rPr>
              <a:t>2022 data is displayed by the month </a:t>
            </a:r>
            <a:r>
              <a:rPr lang="en-US" b="1" dirty="0">
                <a:solidFill>
                  <a:srgbClr val="0E5D90"/>
                </a:solidFill>
              </a:rPr>
              <a:t>for a better comparison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E5D90"/>
                </a:solidFill>
              </a:rPr>
              <a:t>Average </a:t>
            </a:r>
            <a:r>
              <a:rPr lang="en-US" b="1" u="sng" dirty="0">
                <a:solidFill>
                  <a:srgbClr val="0E5D90"/>
                </a:solidFill>
              </a:rPr>
              <a:t>MSF/</a:t>
            </a:r>
            <a:r>
              <a:rPr lang="en-US" b="1" u="sng" dirty="0" err="1">
                <a:solidFill>
                  <a:srgbClr val="0E5D90"/>
                </a:solidFill>
              </a:rPr>
              <a:t>MachineHr</a:t>
            </a:r>
            <a:r>
              <a:rPr lang="en-US" b="1" u="sng" dirty="0">
                <a:solidFill>
                  <a:srgbClr val="0E5D90"/>
                </a:solidFill>
              </a:rPr>
              <a:t> has improved by      ~ 22%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4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itle 2">
            <a:extLst>
              <a:ext uri="{FF2B5EF4-FFF2-40B4-BE49-F238E27FC236}">
                <a16:creationId xmlns:a16="http://schemas.microsoft.com/office/drawing/2014/main" id="{4A3C7B9D-452C-44A0-96D0-C3D555195C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18136"/>
            <a:ext cx="10972800" cy="563562"/>
          </a:xfrm>
        </p:spPr>
        <p:txBody>
          <a:bodyPr/>
          <a:lstStyle/>
          <a:p>
            <a:r>
              <a:rPr lang="en-US" altLang="en-US" dirty="0"/>
              <a:t>Updated Normality Test</a:t>
            </a:r>
          </a:p>
        </p:txBody>
      </p:sp>
      <p:graphicFrame>
        <p:nvGraphicFramePr>
          <p:cNvPr id="16" name="Table 11">
            <a:extLst>
              <a:ext uri="{FF2B5EF4-FFF2-40B4-BE49-F238E27FC236}">
                <a16:creationId xmlns:a16="http://schemas.microsoft.com/office/drawing/2014/main" id="{7C93C117-CCC9-4EC4-B28C-342CB77B9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589971"/>
              </p:ext>
            </p:extLst>
          </p:nvPr>
        </p:nvGraphicFramePr>
        <p:xfrm>
          <a:off x="10591800" y="441081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FA3DF0D-C750-797C-6DE7-0BBC95F11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1295400"/>
            <a:ext cx="7665981" cy="462669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345663-C359-16D9-3F03-79F80E5FF2D5}"/>
              </a:ext>
            </a:extLst>
          </p:cNvPr>
          <p:cNvSpPr txBox="1"/>
          <p:nvPr/>
        </p:nvSpPr>
        <p:spPr>
          <a:xfrm>
            <a:off x="457200" y="1371600"/>
            <a:ext cx="251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E5D90"/>
                </a:solidFill>
              </a:rPr>
              <a:t>Anderson-Darling    P-value shows after data is normal</a:t>
            </a:r>
          </a:p>
        </p:txBody>
      </p:sp>
    </p:spTree>
    <p:extLst>
      <p:ext uri="{BB962C8B-B14F-4D97-AF65-F5344CB8AC3E}">
        <p14:creationId xmlns:p14="http://schemas.microsoft.com/office/powerpoint/2010/main" val="27670160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E45A0D-F5DD-412B-AF10-9649178C2DDF}"/>
              </a:ext>
            </a:extLst>
          </p:cNvPr>
          <p:cNvSpPr/>
          <p:nvPr/>
        </p:nvSpPr>
        <p:spPr bwMode="auto">
          <a:xfrm>
            <a:off x="172318" y="1105238"/>
            <a:ext cx="4059355" cy="514316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E5D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411" name="Title 2">
            <a:extLst>
              <a:ext uri="{FF2B5EF4-FFF2-40B4-BE49-F238E27FC236}">
                <a16:creationId xmlns:a16="http://schemas.microsoft.com/office/drawing/2014/main" id="{4A3C7B9D-452C-44A0-96D0-C3D555195C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18136"/>
            <a:ext cx="10972800" cy="563562"/>
          </a:xfrm>
        </p:spPr>
        <p:txBody>
          <a:bodyPr/>
          <a:lstStyle/>
          <a:p>
            <a:r>
              <a:rPr lang="en-US" altLang="en-US" dirty="0"/>
              <a:t>Improved Capability Analysis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B1F2EF3C-122A-49C5-9155-CECC3B88C8F6}"/>
              </a:ext>
            </a:extLst>
          </p:cNvPr>
          <p:cNvSpPr txBox="1">
            <a:spLocks/>
          </p:cNvSpPr>
          <p:nvPr/>
        </p:nvSpPr>
        <p:spPr>
          <a:xfrm>
            <a:off x="172318" y="1235148"/>
            <a:ext cx="3810000" cy="501325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b="1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914400"/>
            <a:endParaRPr lang="en-US" sz="1400" kern="0" dirty="0"/>
          </a:p>
          <a:p>
            <a:pPr defTabSz="914400"/>
            <a:endParaRPr lang="en-US" sz="1400" kern="0" dirty="0"/>
          </a:p>
          <a:p>
            <a:pPr defTabSz="914400"/>
            <a:endParaRPr lang="en-US" sz="1400" kern="0" dirty="0"/>
          </a:p>
          <a:p>
            <a:pPr defTabSz="914400"/>
            <a:endParaRPr lang="en-US" sz="1400" kern="0" dirty="0"/>
          </a:p>
          <a:p>
            <a:pPr defTabSz="914400"/>
            <a:r>
              <a:rPr lang="en-US" sz="1400" kern="0" dirty="0">
                <a:solidFill>
                  <a:srgbClr val="0E5D90"/>
                </a:solidFill>
              </a:rPr>
              <a:t>New Cp = 1.46</a:t>
            </a:r>
          </a:p>
          <a:p>
            <a:pPr defTabSz="914400"/>
            <a:r>
              <a:rPr lang="en-US" sz="1400" kern="0" dirty="0">
                <a:solidFill>
                  <a:srgbClr val="0E5D90"/>
                </a:solidFill>
              </a:rPr>
              <a:t>New </a:t>
            </a:r>
            <a:r>
              <a:rPr lang="en-US" sz="1400" kern="0" dirty="0" err="1">
                <a:solidFill>
                  <a:srgbClr val="0E5D90"/>
                </a:solidFill>
              </a:rPr>
              <a:t>Cpk</a:t>
            </a:r>
            <a:r>
              <a:rPr lang="en-US" sz="1400" kern="0" dirty="0">
                <a:solidFill>
                  <a:srgbClr val="0E5D90"/>
                </a:solidFill>
              </a:rPr>
              <a:t> =  0.96</a:t>
            </a:r>
          </a:p>
          <a:p>
            <a:pPr defTabSz="914400"/>
            <a:endParaRPr lang="en-US" sz="1050" kern="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645F03A-5699-4673-B4E8-F665E6722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589971"/>
              </p:ext>
            </p:extLst>
          </p:nvPr>
        </p:nvGraphicFramePr>
        <p:xfrm>
          <a:off x="10591800" y="441081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C4D71A9-BED4-5EBA-7FED-D02756AAB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580" y="1004643"/>
            <a:ext cx="7026249" cy="508298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487074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654FA-AD39-4E95-A623-B82472D74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7542" y="1015027"/>
            <a:ext cx="5386917" cy="639762"/>
          </a:xfrm>
        </p:spPr>
        <p:txBody>
          <a:bodyPr/>
          <a:lstStyle/>
          <a:p>
            <a:r>
              <a:rPr lang="en-GB" dirty="0"/>
              <a:t>BEFORE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694329-4CB6-4EF1-9B21-C1A6F7D51B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01000" y="1028012"/>
            <a:ext cx="5389033" cy="639762"/>
          </a:xfrm>
        </p:spPr>
        <p:txBody>
          <a:bodyPr/>
          <a:lstStyle/>
          <a:p>
            <a:r>
              <a:rPr lang="en-GB" dirty="0"/>
              <a:t>AFTER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108AE3-A487-44B0-9E30-612914054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13" y="328308"/>
            <a:ext cx="10972800" cy="563562"/>
          </a:xfrm>
        </p:spPr>
        <p:txBody>
          <a:bodyPr/>
          <a:lstStyle/>
          <a:p>
            <a:pPr eaLnBrk="1" hangingPunct="1"/>
            <a:r>
              <a:rPr lang="en-GB" dirty="0">
                <a:solidFill>
                  <a:srgbClr val="005388"/>
                </a:solidFill>
              </a:rPr>
              <a:t>Previous State vs. Improved State (Monthly Samples)</a:t>
            </a:r>
            <a:endParaRPr lang="en-US" dirty="0">
              <a:solidFill>
                <a:srgbClr val="005388"/>
              </a:solidFill>
            </a:endParaRPr>
          </a:p>
        </p:txBody>
      </p:sp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4BA8C438-A4C7-401C-9DFD-0CA4E73E3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589971"/>
              </p:ext>
            </p:extLst>
          </p:nvPr>
        </p:nvGraphicFramePr>
        <p:xfrm>
          <a:off x="10591800" y="441081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F1DB052-2044-0A9E-5EA3-954049246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01" y="1901103"/>
            <a:ext cx="5817280" cy="416058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EDA455-4E53-EDA2-A849-2D90591EE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321" y="1901103"/>
            <a:ext cx="5751207" cy="416058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046658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B283D-23C6-41EE-AAC9-26CE4A75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FMEA</a:t>
            </a:r>
          </a:p>
        </p:txBody>
      </p:sp>
      <p:graphicFrame>
        <p:nvGraphicFramePr>
          <p:cNvPr id="7" name="Table 11">
            <a:extLst>
              <a:ext uri="{FF2B5EF4-FFF2-40B4-BE49-F238E27FC236}">
                <a16:creationId xmlns:a16="http://schemas.microsoft.com/office/drawing/2014/main" id="{0BAE5523-28D4-4261-895D-DDA0B046C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589971"/>
              </p:ext>
            </p:extLst>
          </p:nvPr>
        </p:nvGraphicFramePr>
        <p:xfrm>
          <a:off x="10591800" y="441081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E58C0A6-016F-7969-F7EB-C4AD4E044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648" y="802775"/>
            <a:ext cx="10752752" cy="506773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383484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B283D-23C6-41EE-AAC9-26CE4A7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9845"/>
            <a:ext cx="10972800" cy="563562"/>
          </a:xfrm>
        </p:spPr>
        <p:txBody>
          <a:bodyPr/>
          <a:lstStyle/>
          <a:p>
            <a:r>
              <a:rPr lang="en-US" dirty="0"/>
              <a:t>Final FMEA Cont.</a:t>
            </a:r>
          </a:p>
        </p:txBody>
      </p:sp>
      <p:graphicFrame>
        <p:nvGraphicFramePr>
          <p:cNvPr id="7" name="Table 11">
            <a:extLst>
              <a:ext uri="{FF2B5EF4-FFF2-40B4-BE49-F238E27FC236}">
                <a16:creationId xmlns:a16="http://schemas.microsoft.com/office/drawing/2014/main" id="{0BAE5523-28D4-4261-895D-DDA0B046C564}"/>
              </a:ext>
            </a:extLst>
          </p:cNvPr>
          <p:cNvGraphicFramePr>
            <a:graphicFrameLocks noGrp="1"/>
          </p:cNvGraphicFramePr>
          <p:nvPr/>
        </p:nvGraphicFramePr>
        <p:xfrm>
          <a:off x="10591800" y="441081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83FC39F-C1FA-4224-4E66-DF7BC50E8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013" y="1088740"/>
            <a:ext cx="10972799" cy="532817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5E3F89-6DBE-FD02-67EF-4A34EB6B3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813" y="613499"/>
            <a:ext cx="11125200" cy="47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182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B283D-23C6-41EE-AAC9-26CE4A75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FMEA Cont.</a:t>
            </a:r>
          </a:p>
        </p:txBody>
      </p:sp>
      <p:graphicFrame>
        <p:nvGraphicFramePr>
          <p:cNvPr id="7" name="Table 11">
            <a:extLst>
              <a:ext uri="{FF2B5EF4-FFF2-40B4-BE49-F238E27FC236}">
                <a16:creationId xmlns:a16="http://schemas.microsoft.com/office/drawing/2014/main" id="{0BAE5523-28D4-4261-895D-DDA0B046C564}"/>
              </a:ext>
            </a:extLst>
          </p:cNvPr>
          <p:cNvGraphicFramePr>
            <a:graphicFrameLocks noGrp="1"/>
          </p:cNvGraphicFramePr>
          <p:nvPr/>
        </p:nvGraphicFramePr>
        <p:xfrm>
          <a:off x="10591800" y="441081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CA3B33B-A086-209A-9398-E720AB787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966" y="1524001"/>
            <a:ext cx="10951443" cy="343675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94C3DD-751E-332C-179D-1CBF93DE3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609" y="1066558"/>
            <a:ext cx="10972800" cy="46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0165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72E40-991E-43BB-A632-A6B89BCAE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Plan - Manufacturing </a:t>
            </a:r>
          </a:p>
        </p:txBody>
      </p:sp>
      <p:graphicFrame>
        <p:nvGraphicFramePr>
          <p:cNvPr id="8" name="Table 11">
            <a:extLst>
              <a:ext uri="{FF2B5EF4-FFF2-40B4-BE49-F238E27FC236}">
                <a16:creationId xmlns:a16="http://schemas.microsoft.com/office/drawing/2014/main" id="{783C7989-F3DD-4BED-AA20-2FA85EF9F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350765"/>
              </p:ext>
            </p:extLst>
          </p:nvPr>
        </p:nvGraphicFramePr>
        <p:xfrm>
          <a:off x="10591800" y="441081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EAA92F0-0970-1CEE-3646-671F8B981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" y="1761190"/>
            <a:ext cx="12014200" cy="333562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814139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/>
          <p:cNvSpPr txBox="1">
            <a:spLocks noGrp="1" noChangeArrowheads="1"/>
          </p:cNvSpPr>
          <p:nvPr/>
        </p:nvSpPr>
        <p:spPr bwMode="auto">
          <a:xfrm>
            <a:off x="8515350" y="6589713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/>
          <a:lstStyle/>
          <a:p>
            <a:pPr algn="r"/>
            <a:fld id="{1E3E8DB4-3EC1-45C2-9D13-62E1A2A333E4}" type="slidenum">
              <a:rPr lang="en-US" sz="1000">
                <a:solidFill>
                  <a:schemeClr val="bg1"/>
                </a:solidFill>
                <a:latin typeface="Arial Unicode MS" pitchFamily="34" charset="-128"/>
              </a:rPr>
              <a:pPr algn="r"/>
              <a:t>32</a:t>
            </a:fld>
            <a:endParaRPr lang="en-US" sz="1000" dirty="0">
              <a:solidFill>
                <a:schemeClr val="bg1"/>
              </a:solidFill>
              <a:latin typeface="Arial Unicode MS" pitchFamily="34" charset="-128"/>
            </a:endParaRPr>
          </a:p>
        </p:txBody>
      </p:sp>
      <p:sp>
        <p:nvSpPr>
          <p:cNvPr id="30725" name="Text Box 3"/>
          <p:cNvSpPr txBox="1">
            <a:spLocks noChangeArrowheads="1"/>
          </p:cNvSpPr>
          <p:nvPr/>
        </p:nvSpPr>
        <p:spPr bwMode="auto">
          <a:xfrm>
            <a:off x="990600" y="4074666"/>
            <a:ext cx="9007475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>
            <a:spAutoFit/>
          </a:bodyPr>
          <a:lstStyle>
            <a:defPPr>
              <a:defRPr lang="en-US"/>
            </a:defPPr>
            <a:lvl1pPr marL="225425" indent="-225425" eaLnBrk="1" fontAlgn="ctr" hangingPunct="1">
              <a:spcBef>
                <a:spcPct val="50000"/>
              </a:spcBef>
              <a:buClr>
                <a:srgbClr val="0E5D90"/>
              </a:buClr>
              <a:buFontTx/>
              <a:buChar char="•"/>
              <a:tabLst>
                <a:tab pos="2055813" algn="l"/>
                <a:tab pos="4514850" algn="l"/>
                <a:tab pos="5945188" algn="l"/>
                <a:tab pos="7770813" algn="l"/>
              </a:tabLst>
              <a:defRPr b="1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Project End – Proof of Sustainment:</a:t>
            </a:r>
          </a:p>
          <a:p>
            <a:endParaRPr lang="en-US" dirty="0"/>
          </a:p>
        </p:txBody>
      </p:sp>
      <p:sp>
        <p:nvSpPr>
          <p:cNvPr id="30727" name="Text Box 5"/>
          <p:cNvSpPr txBox="1">
            <a:spLocks noChangeArrowheads="1"/>
          </p:cNvSpPr>
          <p:nvPr/>
        </p:nvSpPr>
        <p:spPr bwMode="auto">
          <a:xfrm>
            <a:off x="990600" y="1175085"/>
            <a:ext cx="9007475" cy="53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>
            <a:spAutoFit/>
          </a:bodyPr>
          <a:lstStyle/>
          <a:p>
            <a:pPr marL="225425" indent="-225425" eaLnBrk="1" fontAlgn="ctr" hangingPunct="1">
              <a:spcBef>
                <a:spcPct val="50000"/>
              </a:spcBef>
              <a:buClr>
                <a:srgbClr val="0E5D90"/>
              </a:buClr>
              <a:buFontTx/>
              <a:buChar char="•"/>
              <a:tabLst>
                <a:tab pos="2055813" algn="l"/>
                <a:tab pos="4514850" algn="l"/>
                <a:tab pos="5945188" algn="l"/>
                <a:tab pos="7770813" algn="l"/>
              </a:tabLst>
            </a:pPr>
            <a:r>
              <a:rPr lang="en-US" b="1" dirty="0">
                <a:latin typeface="Arial" panose="020B0604020202020204" pitchFamily="34" charset="0"/>
              </a:rPr>
              <a:t>Updates to Corporate Knowledge Base:</a:t>
            </a:r>
          </a:p>
          <a:p>
            <a:pPr marL="230188" indent="-230188" fontAlgn="ctr">
              <a:tabLst>
                <a:tab pos="2055813" algn="l"/>
                <a:tab pos="4514850" algn="l"/>
                <a:tab pos="5945188" algn="l"/>
                <a:tab pos="7770813" algn="l"/>
              </a:tabLst>
            </a:pPr>
            <a:endParaRPr lang="en-US" sz="1400" b="1" u="sng" dirty="0"/>
          </a:p>
        </p:txBody>
      </p:sp>
      <p:graphicFrame>
        <p:nvGraphicFramePr>
          <p:cNvPr id="14" name="Group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516758"/>
              </p:ext>
            </p:extLst>
          </p:nvPr>
        </p:nvGraphicFramePr>
        <p:xfrm>
          <a:off x="1454211" y="1978359"/>
          <a:ext cx="8750300" cy="1273176"/>
        </p:xfrm>
        <a:graphic>
          <a:graphicData uri="http://schemas.openxmlformats.org/drawingml/2006/table">
            <a:tbl>
              <a:tblPr/>
              <a:tblGrid>
                <a:gridCol w="2062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2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7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Document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Change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Owner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Completed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SOP for </a:t>
                      </a: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Goepfert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282 D/C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Machine Procedure adjusted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Grand Rapids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7"/>
          <p:cNvSpPr>
            <a:spLocks noChangeArrowheads="1"/>
          </p:cNvSpPr>
          <p:nvPr/>
        </p:nvSpPr>
        <p:spPr bwMode="auto">
          <a:xfrm>
            <a:off x="1454211" y="232198"/>
            <a:ext cx="91440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>
                <a:solidFill>
                  <a:srgbClr val="005388"/>
                </a:solidFill>
                <a:latin typeface="+mj-lt"/>
                <a:ea typeface="+mj-ea"/>
                <a:cs typeface="+mj-cs"/>
              </a:rPr>
              <a:t>Final Process Controls</a:t>
            </a:r>
          </a:p>
        </p:txBody>
      </p:sp>
      <p:sp>
        <p:nvSpPr>
          <p:cNvPr id="12" name="Line 2">
            <a:extLst>
              <a:ext uri="{FF2B5EF4-FFF2-40B4-BE49-F238E27FC236}">
                <a16:creationId xmlns:a16="http://schemas.microsoft.com/office/drawing/2014/main" id="{6A281A01-08E3-408A-958A-306B140277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388" y="3810000"/>
            <a:ext cx="10820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8" name="Text Box 6">
            <a:extLst>
              <a:ext uri="{FF2B5EF4-FFF2-40B4-BE49-F238E27FC236}">
                <a16:creationId xmlns:a16="http://schemas.microsoft.com/office/drawing/2014/main" id="{B7CEF129-FDF5-459B-9B93-B327BB605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4211" y="4558334"/>
            <a:ext cx="9926577" cy="646331"/>
          </a:xfrm>
          <a:prstGeom prst="rect">
            <a:avLst/>
          </a:prstGeom>
          <a:solidFill>
            <a:srgbClr val="FFFF66"/>
          </a:solidFill>
          <a:ln w="9525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177800" indent="-177800" fontAlgn="ctr">
              <a:tabLst>
                <a:tab pos="969963" algn="l"/>
                <a:tab pos="3198813" algn="l"/>
                <a:tab pos="6116638" algn="l"/>
                <a:tab pos="7548563" algn="l"/>
              </a:tabLst>
            </a:pPr>
            <a:r>
              <a:rPr lang="en-US" dirty="0"/>
              <a:t>	</a:t>
            </a:r>
            <a:r>
              <a:rPr lang="en-US" b="1" dirty="0"/>
              <a:t>FINAL RESULT:</a:t>
            </a:r>
            <a:r>
              <a:rPr lang="en-US" dirty="0"/>
              <a:t> </a:t>
            </a:r>
            <a:r>
              <a:rPr lang="en-US" b="1" dirty="0">
                <a:solidFill>
                  <a:srgbClr val="0E5D90"/>
                </a:solidFill>
              </a:rPr>
              <a:t>The </a:t>
            </a:r>
            <a:r>
              <a:rPr lang="en-US" b="1" dirty="0" err="1">
                <a:solidFill>
                  <a:srgbClr val="0E5D90"/>
                </a:solidFill>
              </a:rPr>
              <a:t>Msf</a:t>
            </a:r>
            <a:r>
              <a:rPr lang="en-US" b="1" dirty="0">
                <a:solidFill>
                  <a:srgbClr val="0E5D90"/>
                </a:solidFill>
              </a:rPr>
              <a:t>/</a:t>
            </a:r>
            <a:r>
              <a:rPr lang="en-US" b="1" dirty="0" err="1">
                <a:solidFill>
                  <a:srgbClr val="0E5D90"/>
                </a:solidFill>
              </a:rPr>
              <a:t>MachineHr</a:t>
            </a:r>
            <a:r>
              <a:rPr lang="en-US" b="1" dirty="0">
                <a:solidFill>
                  <a:srgbClr val="0E5D90"/>
                </a:solidFill>
              </a:rPr>
              <a:t> for the </a:t>
            </a:r>
            <a:r>
              <a:rPr lang="en-US" b="1" dirty="0" err="1">
                <a:solidFill>
                  <a:srgbClr val="0E5D90"/>
                </a:solidFill>
              </a:rPr>
              <a:t>Goepfert</a:t>
            </a:r>
            <a:r>
              <a:rPr lang="en-US" b="1" dirty="0">
                <a:solidFill>
                  <a:srgbClr val="0E5D90"/>
                </a:solidFill>
              </a:rPr>
              <a:t> 282 D/C was improved by 22% from before the project to completion. This resulted in a contribution of $863,700</a:t>
            </a:r>
          </a:p>
        </p:txBody>
      </p:sp>
      <p:graphicFrame>
        <p:nvGraphicFramePr>
          <p:cNvPr id="19" name="Table 11">
            <a:extLst>
              <a:ext uri="{FF2B5EF4-FFF2-40B4-BE49-F238E27FC236}">
                <a16:creationId xmlns:a16="http://schemas.microsoft.com/office/drawing/2014/main" id="{E6CC915D-671C-4075-B181-D7EF48F07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350765"/>
              </p:ext>
            </p:extLst>
          </p:nvPr>
        </p:nvGraphicFramePr>
        <p:xfrm>
          <a:off x="10591800" y="441081"/>
          <a:ext cx="1422400" cy="209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latin typeface="+mn-lt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58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xsigma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xSigmaus">
  <a:themeElements>
    <a:clrScheme name="SixSigmaus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008000"/>
      </a:accent2>
      <a:accent3>
        <a:srgbClr val="FFFFFF"/>
      </a:accent3>
      <a:accent4>
        <a:srgbClr val="000000"/>
      </a:accent4>
      <a:accent5>
        <a:srgbClr val="DAEDEF"/>
      </a:accent5>
      <a:accent6>
        <a:srgbClr val="007300"/>
      </a:accent6>
      <a:hlink>
        <a:srgbClr val="FF3300"/>
      </a:hlink>
      <a:folHlink>
        <a:srgbClr val="B2B2B2"/>
      </a:folHlink>
    </a:clrScheme>
    <a:fontScheme name="SixSigmau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ixSigmau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xSigmau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xSigmau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xSigmau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xSigmau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xSigmau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xSigmau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xSigmau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xSigmau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xSigmau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xSigmau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xSigmau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xSigmaus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08000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07300"/>
        </a:accent6>
        <a:hlink>
          <a:srgbClr val="FF33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1032</Words>
  <Application>Microsoft Office PowerPoint</Application>
  <PresentationFormat>Widescreen</PresentationFormat>
  <Paragraphs>306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 Unicode MS</vt:lpstr>
      <vt:lpstr>Arial</vt:lpstr>
      <vt:lpstr>Arial Narrow</vt:lpstr>
      <vt:lpstr>Arial Rounded MT Bold</vt:lpstr>
      <vt:lpstr>Calibri</vt:lpstr>
      <vt:lpstr>Calibri Light</vt:lpstr>
      <vt:lpstr>Times New Roman</vt:lpstr>
      <vt:lpstr>Wingdings</vt:lpstr>
      <vt:lpstr>sixsigma</vt:lpstr>
      <vt:lpstr>SixSigmaus</vt:lpstr>
      <vt:lpstr>PowerPoint Presentation</vt:lpstr>
      <vt:lpstr>Project Goal</vt:lpstr>
      <vt:lpstr>Six Sigma Team Members</vt:lpstr>
      <vt:lpstr>Project Charter</vt:lpstr>
      <vt:lpstr>Baseline Data</vt:lpstr>
      <vt:lpstr>High Level Process Map</vt:lpstr>
      <vt:lpstr>Detailed Process Map</vt:lpstr>
      <vt:lpstr>Detailed Process Map Cont.</vt:lpstr>
      <vt:lpstr>Detailed Process Map Cont.</vt:lpstr>
      <vt:lpstr>Measurement Systems Analysis</vt:lpstr>
      <vt:lpstr>PowerPoint Presentation</vt:lpstr>
      <vt:lpstr>PowerPoint Presentation</vt:lpstr>
      <vt:lpstr>PowerPoint Presentation</vt:lpstr>
      <vt:lpstr>Preliminary FMEA</vt:lpstr>
      <vt:lpstr>Preliminary FMEA Cont.</vt:lpstr>
      <vt:lpstr>Waste Walk – Set ups</vt:lpstr>
      <vt:lpstr>Spaghetti Diagram Showing Wasted Motion of Crew During Setup</vt:lpstr>
      <vt:lpstr>Root Cause Analysis: Cause &amp; Effect Diagram </vt:lpstr>
      <vt:lpstr>PowerPoint Presentation</vt:lpstr>
      <vt:lpstr>Modeling Bundle Breaker Cont.</vt:lpstr>
      <vt:lpstr>PowerPoint Presentation</vt:lpstr>
      <vt:lpstr>Questions/Conclusions</vt:lpstr>
      <vt:lpstr>Improvement Plan</vt:lpstr>
      <vt:lpstr>Improved Process</vt:lpstr>
      <vt:lpstr>Updated Normality Test</vt:lpstr>
      <vt:lpstr>Improved Capability Analysis</vt:lpstr>
      <vt:lpstr>Previous State vs. Improved State (Monthly Samples)</vt:lpstr>
      <vt:lpstr>Final FMEA</vt:lpstr>
      <vt:lpstr>Final FMEA Cont.</vt:lpstr>
      <vt:lpstr>Final FMEA Cont.</vt:lpstr>
      <vt:lpstr>Control Plan - Manufacturing 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David Leiva</dc:creator>
  <cp:lastModifiedBy>Ermler, Max</cp:lastModifiedBy>
  <cp:revision>37</cp:revision>
  <dcterms:created xsi:type="dcterms:W3CDTF">2021-01-03T22:35:08Z</dcterms:created>
  <dcterms:modified xsi:type="dcterms:W3CDTF">2024-02-15T21:02:12Z</dcterms:modified>
</cp:coreProperties>
</file>